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5" roundtripDataSignature="AMtx7miV8oyXwzxKfR9unk0lS3m5HaMuv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44F08F5-394F-45FC-B09F-C6E03F6852BC}">
  <a:tblStyle styleId="{744F08F5-394F-45FC-B09F-C6E03F6852B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5"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Trisha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Trisha</a:t>
            </a:r>
            <a:endParaRPr/>
          </a:p>
          <a:p>
            <a:pPr indent="0" lvl="0" marL="0" rtl="0" algn="l">
              <a:spcBef>
                <a:spcPts val="0"/>
              </a:spcBef>
              <a:spcAft>
                <a:spcPts val="0"/>
              </a:spcAft>
              <a:buNone/>
            </a:pPr>
            <a:r>
              <a:t/>
            </a:r>
            <a:endParaRPr/>
          </a:p>
          <a:p>
            <a:pPr indent="0" lvl="0" marL="0" rtl="0" algn="l">
              <a:lnSpc>
                <a:spcPct val="115000"/>
              </a:lnSpc>
              <a:spcBef>
                <a:spcPts val="1200"/>
              </a:spcBef>
              <a:spcAft>
                <a:spcPts val="0"/>
              </a:spcAft>
              <a:buClr>
                <a:schemeClr val="dk1"/>
              </a:buClr>
              <a:buSzPts val="1100"/>
              <a:buFont typeface="Arial"/>
              <a:buNone/>
            </a:pPr>
            <a:r>
              <a:rPr lang="en-US"/>
              <a:t>Our project focuses on industrial assets — chillers and air handling units in data centers, backup generators in hospitals, and assembly lines where downtime can cost over a million dollars per hour.</a:t>
            </a:r>
            <a:endParaRPr/>
          </a:p>
          <a:p>
            <a:pPr indent="0" lvl="0" marL="0" rtl="0" algn="l">
              <a:lnSpc>
                <a:spcPct val="115000"/>
              </a:lnSpc>
              <a:spcBef>
                <a:spcPts val="1200"/>
              </a:spcBef>
              <a:spcAft>
                <a:spcPts val="0"/>
              </a:spcAft>
              <a:buClr>
                <a:schemeClr val="dk1"/>
              </a:buClr>
              <a:buSzPts val="1100"/>
              <a:buFont typeface="Arial"/>
              <a:buNone/>
            </a:pPr>
            <a:r>
              <a:rPr lang="en-US"/>
              <a:t>These environments produce massive telemetry: sensor readings, work orders, and equipment records. A static LLM lacks real-time knowledge of these assets, so it can't reliably answer questions about active sensors, failure modes, or relevant maintenance actions.</a:t>
            </a:r>
            <a:endParaRPr/>
          </a:p>
          <a:p>
            <a:pPr indent="0" lvl="0" marL="0" rtl="0" algn="l">
              <a:lnSpc>
                <a:spcPct val="115000"/>
              </a:lnSpc>
              <a:spcBef>
                <a:spcPts val="1200"/>
              </a:spcBef>
              <a:spcAft>
                <a:spcPts val="0"/>
              </a:spcAft>
              <a:buClr>
                <a:schemeClr val="dk1"/>
              </a:buClr>
              <a:buSzPts val="1100"/>
              <a:buFont typeface="Arial"/>
              <a:buNone/>
            </a:pPr>
            <a:r>
              <a:rPr lang="en-US"/>
              <a:t>On AssetOpsBench, we observed a clear latency tradeoff: higher-accuracy Knowledge Plugin runs improved answer quality, but end-to-end time rose from ~20 seconds to over 100 seconds.</a:t>
            </a:r>
            <a:endParaRPr/>
          </a:p>
          <a:p>
            <a:pPr indent="0" lvl="0" marL="0" rtl="0" algn="l">
              <a:lnSpc>
                <a:spcPct val="115000"/>
              </a:lnSpc>
              <a:spcBef>
                <a:spcPts val="1200"/>
              </a:spcBef>
              <a:spcAft>
                <a:spcPts val="0"/>
              </a:spcAft>
              <a:buClr>
                <a:schemeClr val="dk1"/>
              </a:buClr>
              <a:buSzPts val="1100"/>
              <a:buFont typeface="Arial"/>
              <a:buNone/>
            </a:pPr>
            <a:r>
              <a:rPr lang="en-US"/>
              <a:t>Our goal: extend the Pareto frontier — hit 90%+ accuracy on AssetOpsBench while keeping the same small or medium-sized LLM.</a:t>
            </a:r>
            <a:endParaRPr/>
          </a:p>
          <a:p>
            <a:pPr indent="0" lvl="0" marL="0" rtl="0" algn="l">
              <a:spcBef>
                <a:spcPts val="1200"/>
              </a:spcBef>
              <a:spcAft>
                <a:spcPts val="0"/>
              </a:spcAft>
              <a:buNone/>
            </a:pPr>
            <a:r>
              <a:t/>
            </a:r>
            <a:endParaRPr/>
          </a:p>
        </p:txBody>
      </p:sp>
      <p:sp>
        <p:nvSpPr>
          <p:cNvPr id="25" name="Google Shape;2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 name="Google Shape;3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Trisha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100">
                <a:latin typeface="Arial"/>
                <a:ea typeface="Arial"/>
                <a:cs typeface="Arial"/>
                <a:sym typeface="Arial"/>
              </a:rPr>
              <a:t>For our technical approach, we built a tool-augmented agent using Model Context Protocol, or MCP. Our primary model was Llama-4 Maverick — a 17-billion-parameter model served through IBM WatsonX — with support for other models via LiteLLM.</a:t>
            </a:r>
            <a:endParaRPr sz="1100">
              <a:latin typeface="Arial"/>
              <a:ea typeface="Arial"/>
              <a:cs typeface="Arial"/>
              <a:sym typeface="Arial"/>
            </a:endParaRPr>
          </a:p>
          <a:p>
            <a:pPr indent="0" lvl="0" marL="0" rtl="0" algn="l">
              <a:spcBef>
                <a:spcPts val="0"/>
              </a:spcBef>
              <a:spcAft>
                <a:spcPts val="0"/>
              </a:spcAft>
              <a:buNone/>
            </a:pPr>
            <a:r>
              <a:t/>
            </a:r>
            <a:endParaRPr sz="1100">
              <a:latin typeface="Arial"/>
              <a:ea typeface="Arial"/>
              <a:cs typeface="Arial"/>
              <a:sym typeface="Arial"/>
            </a:endParaRPr>
          </a:p>
          <a:p>
            <a:pPr indent="0" lvl="0" marL="0" rtl="0" algn="l">
              <a:spcBef>
                <a:spcPts val="0"/>
              </a:spcBef>
              <a:spcAft>
                <a:spcPts val="0"/>
              </a:spcAft>
              <a:buNone/>
            </a:pPr>
            <a:r>
              <a:rPr lang="en-US" sz="1100">
                <a:latin typeface="Arial"/>
                <a:ea typeface="Arial"/>
                <a:cs typeface="Arial"/>
                <a:sym typeface="Arial"/>
              </a:rPr>
              <a:t>The stack is Python 3.12, using FastMCP for agent-server communication, ChromaDB and CouchDB for retrieval and asset data, and sentence-transformers for embeddings.</a:t>
            </a:r>
            <a:endParaRPr sz="1100">
              <a:latin typeface="Arial"/>
              <a:ea typeface="Arial"/>
              <a:cs typeface="Arial"/>
              <a:sym typeface="Arial"/>
            </a:endParaRPr>
          </a:p>
          <a:p>
            <a:pPr indent="0" lvl="0" marL="0" rtl="0" algn="l">
              <a:spcBef>
                <a:spcPts val="0"/>
              </a:spcBef>
              <a:spcAft>
                <a:spcPts val="0"/>
              </a:spcAft>
              <a:buNone/>
            </a:pPr>
            <a:r>
              <a:t/>
            </a:r>
            <a:endParaRPr sz="1100">
              <a:latin typeface="Arial"/>
              <a:ea typeface="Arial"/>
              <a:cs typeface="Arial"/>
              <a:sym typeface="Arial"/>
            </a:endParaRPr>
          </a:p>
          <a:p>
            <a:pPr indent="0" lvl="0" marL="0" rtl="0" algn="l">
              <a:spcBef>
                <a:spcPts val="0"/>
              </a:spcBef>
              <a:spcAft>
                <a:spcPts val="0"/>
              </a:spcAft>
              <a:buNone/>
            </a:pPr>
            <a:r>
              <a:rPr lang="en-US" sz="1100">
                <a:latin typeface="Arial"/>
                <a:ea typeface="Arial"/>
                <a:cs typeface="Arial"/>
                <a:sym typeface="Arial"/>
              </a:rPr>
              <a:t>Our dataset is IBM's AssetOpsBench on HuggingFace — realistic industrial asset tasks covering sensors, failure modes, work orders, and knowledge retrieval.</a:t>
            </a:r>
            <a:endParaRPr sz="1100">
              <a:latin typeface="Arial"/>
              <a:ea typeface="Arial"/>
              <a:cs typeface="Arial"/>
              <a:sym typeface="Arial"/>
            </a:endParaRPr>
          </a:p>
        </p:txBody>
      </p:sp>
      <p:sp>
        <p:nvSpPr>
          <p:cNvPr id="38" name="Google Shape;3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Yeshitha</a:t>
            </a:r>
            <a:endParaRPr/>
          </a:p>
        </p:txBody>
      </p:sp>
      <p:sp>
        <p:nvSpPr>
          <p:cNvPr id="57" name="Google Shape;5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 name="Google Shape;7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Yeshitha</a:t>
            </a:r>
            <a:endParaRPr/>
          </a:p>
        </p:txBody>
      </p:sp>
      <p:sp>
        <p:nvSpPr>
          <p:cNvPr id="75" name="Google Shape;7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Thai: We did run many scenarios and different use cases pumping, vibration,... but we stick with the chiller that has the highest accuracy as this is the best result we can reach and develop our work on.</a:t>
            </a:r>
            <a:endParaRPr/>
          </a:p>
        </p:txBody>
      </p:sp>
      <p:sp>
        <p:nvSpPr>
          <p:cNvPr id="89" name="Google Shape;8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Thai</a:t>
            </a:r>
            <a:endParaRPr/>
          </a:p>
        </p:txBody>
      </p:sp>
      <p:sp>
        <p:nvSpPr>
          <p:cNvPr id="108" name="Google Shape;10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dde1bbe957_1_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g3dde1bbe957_1_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Thai</a:t>
            </a:r>
            <a:endParaRPr/>
          </a:p>
        </p:txBody>
      </p:sp>
      <p:sp>
        <p:nvSpPr>
          <p:cNvPr id="121" name="Google Shape;121;g3dde1bbe957_1_5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dde1bbe957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dde1bbe957_0_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g3dde1bbe957_0_2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Andrew: file://wsl.localhost/Ubuntu/home/andli/projects/kmn-AssetOpsBench/dashboards/hf3.html</a:t>
            </a:r>
            <a:endParaRPr/>
          </a:p>
        </p:txBody>
      </p:sp>
      <p:sp>
        <p:nvSpPr>
          <p:cNvPr id="154" name="Google Shape;15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ddce992f4e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g3ddce992f4e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Andrew: file://wsl.localhost/Ubuntu/home/andli/projects/kmn-AssetOpsBench/dashboards/hf3.html</a:t>
            </a:r>
            <a:endParaRPr/>
          </a:p>
          <a:p>
            <a:pPr indent="0" lvl="0" marL="0" rtl="0" algn="l">
              <a:spcBef>
                <a:spcPts val="0"/>
              </a:spcBef>
              <a:spcAft>
                <a:spcPts val="0"/>
              </a:spcAft>
              <a:buNone/>
            </a:pPr>
            <a:r>
              <a:t/>
            </a:r>
            <a:endParaRPr/>
          </a:p>
        </p:txBody>
      </p:sp>
      <p:sp>
        <p:nvSpPr>
          <p:cNvPr id="167" name="Google Shape;167;g3ddce992f4e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 name="Google Shape;20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dde1bbe957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g3dde1bbe957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g3dde1bbe957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dde1bbe957_1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3" name="Google Shape;253;g3dde1bbe957_1_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lang="en-US" sz="1100">
                <a:solidFill>
                  <a:srgbClr val="214151"/>
                </a:solidFill>
                <a:highlight>
                  <a:srgbClr val="F1F5F8"/>
                </a:highlight>
                <a:latin typeface="Arial"/>
                <a:ea typeface="Arial"/>
                <a:cs typeface="Arial"/>
                <a:sym typeface="Arial"/>
              </a:rPr>
              <a:t>model_id=watsonx/ibm/granite-3-8b-instruct</a:t>
            </a:r>
            <a:endParaRPr sz="1100">
              <a:solidFill>
                <a:srgbClr val="214151"/>
              </a:solidFill>
              <a:highlight>
                <a:srgbClr val="F1F5F8"/>
              </a:highlight>
              <a:latin typeface="Arial"/>
              <a:ea typeface="Arial"/>
              <a:cs typeface="Arial"/>
              <a:sym typeface="Arial"/>
            </a:endParaRPr>
          </a:p>
          <a:p>
            <a:pPr indent="0" lvl="0" marL="0" rtl="0" algn="l">
              <a:spcBef>
                <a:spcPts val="0"/>
              </a:spcBef>
              <a:spcAft>
                <a:spcPts val="0"/>
              </a:spcAft>
              <a:buSzPts val="1100"/>
              <a:buNone/>
            </a:pPr>
            <a:r>
              <a:rPr lang="en-US" sz="1100">
                <a:solidFill>
                  <a:srgbClr val="214151"/>
                </a:solidFill>
                <a:highlight>
                  <a:srgbClr val="F1F5F8"/>
                </a:highlight>
                <a:latin typeface="Arial"/>
                <a:ea typeface="Arial"/>
                <a:cs typeface="Arial"/>
                <a:sym typeface="Arial"/>
              </a:rPr>
              <a:t>vs</a:t>
            </a:r>
            <a:endParaRPr sz="1100">
              <a:solidFill>
                <a:srgbClr val="214151"/>
              </a:solidFill>
              <a:highlight>
                <a:srgbClr val="F1F5F8"/>
              </a:highlight>
              <a:latin typeface="Arial"/>
              <a:ea typeface="Arial"/>
              <a:cs typeface="Arial"/>
              <a:sym typeface="Arial"/>
            </a:endParaRPr>
          </a:p>
          <a:p>
            <a:pPr indent="0" lvl="0" marL="0" rtl="0" algn="l">
              <a:spcBef>
                <a:spcPts val="0"/>
              </a:spcBef>
              <a:spcAft>
                <a:spcPts val="0"/>
              </a:spcAft>
              <a:buSzPts val="1100"/>
              <a:buNone/>
            </a:pPr>
            <a:r>
              <a:rPr lang="en-US" sz="1100">
                <a:solidFill>
                  <a:srgbClr val="214151"/>
                </a:solidFill>
                <a:highlight>
                  <a:srgbClr val="F1F5F8"/>
                </a:highlight>
                <a:latin typeface="Arial"/>
                <a:ea typeface="Arial"/>
                <a:cs typeface="Arial"/>
                <a:sym typeface="Arial"/>
              </a:rPr>
              <a:t>model_id=watsonx/meta-llama/llama-4-maverick-17b-128e-instruct-fp8</a:t>
            </a:r>
            <a:endParaRPr sz="1100">
              <a:solidFill>
                <a:srgbClr val="214151"/>
              </a:solidFill>
              <a:highlight>
                <a:srgbClr val="F1F5F8"/>
              </a:highlight>
              <a:latin typeface="Arial"/>
              <a:ea typeface="Arial"/>
              <a:cs typeface="Arial"/>
              <a:sym typeface="Arial"/>
            </a:endParaRPr>
          </a:p>
          <a:p>
            <a:pPr indent="0" lvl="0" marL="0" rtl="0" algn="l">
              <a:spcBef>
                <a:spcPts val="0"/>
              </a:spcBef>
              <a:spcAft>
                <a:spcPts val="0"/>
              </a:spcAft>
              <a:buSzPts val="1100"/>
              <a:buNone/>
            </a:pPr>
            <a:r>
              <a:t/>
            </a:r>
            <a:endParaRPr sz="1100">
              <a:solidFill>
                <a:srgbClr val="214151"/>
              </a:solidFill>
              <a:highlight>
                <a:srgbClr val="F1F5F8"/>
              </a:highlight>
              <a:latin typeface="Arial"/>
              <a:ea typeface="Arial"/>
              <a:cs typeface="Arial"/>
              <a:sym typeface="Arial"/>
            </a:endParaRPr>
          </a:p>
        </p:txBody>
      </p:sp>
      <p:sp>
        <p:nvSpPr>
          <p:cNvPr id="254" name="Google Shape;254;g3dde1bbe957_1_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github.com/kmn01/AssetOpsBench" TargetMode="External"/><Relationship Id="rId4" Type="http://schemas.openxmlformats.org/officeDocument/2006/relationships/hyperlink" Target="https://wandb.ai/kmn01-columbia-university/HPML%20Project"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s://github.com/kmn01/AssetOpsBench/commit/370d890888a9a693c1217368b9675ce9555831e4#diff-727c40207e32884154f86044269e0a82723e529dfb0883c5c7ceaafec49b8d07"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1F26"/>
        </a:solidFill>
      </p:bgPr>
    </p:bg>
    <p:spTree>
      <p:nvGrpSpPr>
        <p:cNvPr id="15" name="Shape 15"/>
        <p:cNvGrpSpPr/>
        <p:nvPr/>
      </p:nvGrpSpPr>
      <p:grpSpPr>
        <a:xfrm>
          <a:off x="0" y="0"/>
          <a:ext cx="0" cy="0"/>
          <a:chOff x="0" y="0"/>
          <a:chExt cx="0" cy="0"/>
        </a:xfrm>
      </p:grpSpPr>
      <p:sp>
        <p:nvSpPr>
          <p:cNvPr id="16" name="Google Shape;16;p1"/>
          <p:cNvSpPr/>
          <p:nvPr/>
        </p:nvSpPr>
        <p:spPr>
          <a:xfrm>
            <a:off x="548640" y="548640"/>
            <a:ext cx="10972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CC4"/>
              </a:buClr>
              <a:buSzPts val="1200"/>
              <a:buFont typeface="Calibri"/>
              <a:buNone/>
            </a:pPr>
            <a:r>
              <a:rPr b="0" i="0" lang="en-US" sz="1200" u="none" cap="none" strike="noStrike">
                <a:solidFill>
                  <a:srgbClr val="B8BCC4"/>
                </a:solidFill>
                <a:latin typeface="Calibri"/>
                <a:ea typeface="Calibri"/>
                <a:cs typeface="Calibri"/>
                <a:sym typeface="Calibri"/>
              </a:rPr>
              <a:t>HPML Final Project  ·  Spring 2026</a:t>
            </a:r>
            <a:endParaRPr b="0" i="0" sz="1200" u="none" cap="none" strike="noStrike">
              <a:solidFill>
                <a:schemeClr val="dk1"/>
              </a:solidFill>
              <a:latin typeface="Calibri"/>
              <a:ea typeface="Calibri"/>
              <a:cs typeface="Calibri"/>
              <a:sym typeface="Calibri"/>
            </a:endParaRPr>
          </a:p>
        </p:txBody>
      </p:sp>
      <p:sp>
        <p:nvSpPr>
          <p:cNvPr id="17" name="Google Shape;17;p1"/>
          <p:cNvSpPr/>
          <p:nvPr/>
        </p:nvSpPr>
        <p:spPr>
          <a:xfrm>
            <a:off x="548650" y="1288750"/>
            <a:ext cx="10972800" cy="200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5400"/>
              <a:buFont typeface="Calibri"/>
              <a:buNone/>
            </a:pPr>
            <a:r>
              <a:rPr b="1" lang="en-US" sz="5200">
                <a:solidFill>
                  <a:srgbClr val="FFFFFF"/>
                </a:solidFill>
                <a:latin typeface="Calibri"/>
                <a:ea typeface="Calibri"/>
                <a:cs typeface="Calibri"/>
                <a:sym typeface="Calibri"/>
              </a:rPr>
              <a:t>Skills and Knowledge Plugin MCP Servers for Optimized Industrial O&amp;M Agents</a:t>
            </a:r>
            <a:endParaRPr b="0" i="0" sz="5200" u="none" cap="none" strike="noStrike">
              <a:solidFill>
                <a:schemeClr val="dk1"/>
              </a:solidFill>
              <a:latin typeface="Calibri"/>
              <a:ea typeface="Calibri"/>
              <a:cs typeface="Calibri"/>
              <a:sym typeface="Calibri"/>
            </a:endParaRPr>
          </a:p>
        </p:txBody>
      </p:sp>
      <p:sp>
        <p:nvSpPr>
          <p:cNvPr id="18" name="Google Shape;18;p1"/>
          <p:cNvSpPr/>
          <p:nvPr/>
        </p:nvSpPr>
        <p:spPr>
          <a:xfrm>
            <a:off x="548640" y="3520443"/>
            <a:ext cx="109728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CC4"/>
              </a:buClr>
              <a:buSzPts val="2000"/>
              <a:buFont typeface="Calibri"/>
              <a:buNone/>
            </a:pPr>
            <a:r>
              <a:rPr i="1" lang="en-US" sz="2000">
                <a:solidFill>
                  <a:srgbClr val="B8BCC4"/>
                </a:solidFill>
                <a:latin typeface="Calibri"/>
                <a:ea typeface="Calibri"/>
                <a:cs typeface="Calibri"/>
                <a:sym typeface="Calibri"/>
              </a:rPr>
              <a:t>Introducing Skills Marketplace and Knowledge Retrieval Plugin MCP Servers to optimize accuracy, latency and context efficiency of IBM AssetOpsBench -- ~ 68% to 92% increase in accuracy with KP over RAG</a:t>
            </a:r>
            <a:endParaRPr b="0" i="0" sz="2000" u="none" cap="none" strike="noStrike">
              <a:solidFill>
                <a:schemeClr val="dk1"/>
              </a:solidFill>
              <a:latin typeface="Calibri"/>
              <a:ea typeface="Calibri"/>
              <a:cs typeface="Calibri"/>
              <a:sym typeface="Calibri"/>
            </a:endParaRPr>
          </a:p>
        </p:txBody>
      </p:sp>
      <p:sp>
        <p:nvSpPr>
          <p:cNvPr id="19" name="Google Shape;19;p1"/>
          <p:cNvSpPr/>
          <p:nvPr/>
        </p:nvSpPr>
        <p:spPr>
          <a:xfrm>
            <a:off x="548640" y="4572000"/>
            <a:ext cx="5486400" cy="1463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Team </a:t>
            </a:r>
            <a:r>
              <a:rPr b="1" lang="en-US" sz="1600">
                <a:solidFill>
                  <a:srgbClr val="FFFFFF"/>
                </a:solidFill>
                <a:latin typeface="Calibri"/>
                <a:ea typeface="Calibri"/>
                <a:cs typeface="Calibri"/>
                <a:sym typeface="Calibri"/>
              </a:rPr>
              <a:t>3</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8CCD2"/>
              </a:buClr>
              <a:buSzPts val="1300"/>
              <a:buFont typeface="Calibri"/>
              <a:buNone/>
            </a:pPr>
            <a:r>
              <a:rPr lang="en-US" sz="1300">
                <a:solidFill>
                  <a:srgbClr val="C8CCD2"/>
                </a:solidFill>
                <a:latin typeface="Calibri"/>
                <a:ea typeface="Calibri"/>
                <a:cs typeface="Calibri"/>
                <a:sym typeface="Calibri"/>
              </a:rPr>
              <a:t>Andrew Li</a:t>
            </a:r>
            <a:r>
              <a:rPr b="0" i="0" lang="en-US" sz="1300" u="none" cap="none" strike="noStrike">
                <a:solidFill>
                  <a:srgbClr val="C8CCD2"/>
                </a:solidFill>
                <a:latin typeface="Calibri"/>
                <a:ea typeface="Calibri"/>
                <a:cs typeface="Calibri"/>
                <a:sym typeface="Calibri"/>
              </a:rPr>
              <a:t> </a:t>
            </a:r>
            <a:r>
              <a:rPr b="0" i="0" lang="en-US" sz="1300" u="none" cap="none" strike="noStrike">
                <a:solidFill>
                  <a:srgbClr val="C8CCD2"/>
                </a:solidFill>
                <a:latin typeface="Calibri"/>
                <a:ea typeface="Calibri"/>
                <a:cs typeface="Calibri"/>
                <a:sym typeface="Calibri"/>
              </a:rPr>
              <a:t>·</a:t>
            </a:r>
            <a:r>
              <a:rPr lang="en-US" sz="1300">
                <a:solidFill>
                  <a:srgbClr val="C8CCD2"/>
                </a:solidFill>
                <a:latin typeface="Calibri"/>
                <a:ea typeface="Calibri"/>
                <a:cs typeface="Calibri"/>
                <a:sym typeface="Calibri"/>
              </a:rPr>
              <a:t> ayl2159</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8CCD2"/>
              </a:buClr>
              <a:buSzPts val="1300"/>
              <a:buFont typeface="Calibri"/>
              <a:buNone/>
            </a:pPr>
            <a:r>
              <a:rPr lang="en-US" sz="1300">
                <a:solidFill>
                  <a:srgbClr val="C8CCD2"/>
                </a:solidFill>
                <a:latin typeface="Calibri"/>
                <a:ea typeface="Calibri"/>
                <a:cs typeface="Calibri"/>
                <a:sym typeface="Calibri"/>
              </a:rPr>
              <a:t>Kirthana Natarajan</a:t>
            </a:r>
            <a:r>
              <a:rPr b="0" i="0" lang="en-US" sz="1300" u="none" cap="none" strike="noStrike">
                <a:solidFill>
                  <a:srgbClr val="C8CCD2"/>
                </a:solidFill>
                <a:latin typeface="Calibri"/>
                <a:ea typeface="Calibri"/>
                <a:cs typeface="Calibri"/>
                <a:sym typeface="Calibri"/>
              </a:rPr>
              <a:t> · </a:t>
            </a:r>
            <a:r>
              <a:rPr lang="en-US" sz="1300">
                <a:solidFill>
                  <a:srgbClr val="C8CCD2"/>
                </a:solidFill>
                <a:latin typeface="Calibri"/>
                <a:ea typeface="Calibri"/>
                <a:cs typeface="Calibri"/>
                <a:sym typeface="Calibri"/>
              </a:rPr>
              <a:t>kmn2161</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8CCD2"/>
              </a:buClr>
              <a:buSzPts val="1300"/>
              <a:buFont typeface="Calibri"/>
              <a:buNone/>
            </a:pPr>
            <a:r>
              <a:rPr lang="en-US" sz="1300">
                <a:solidFill>
                  <a:srgbClr val="C8CCD2"/>
                </a:solidFill>
                <a:latin typeface="Calibri"/>
                <a:ea typeface="Calibri"/>
                <a:cs typeface="Calibri"/>
                <a:sym typeface="Calibri"/>
              </a:rPr>
              <a:t>Thai On</a:t>
            </a:r>
            <a:r>
              <a:rPr b="0" i="0" lang="en-US" sz="1300" u="none" cap="none" strike="noStrike">
                <a:solidFill>
                  <a:srgbClr val="C8CCD2"/>
                </a:solidFill>
                <a:latin typeface="Calibri"/>
                <a:ea typeface="Calibri"/>
                <a:cs typeface="Calibri"/>
                <a:sym typeface="Calibri"/>
              </a:rPr>
              <a:t> · </a:t>
            </a:r>
            <a:r>
              <a:rPr lang="en-US" sz="1300">
                <a:solidFill>
                  <a:srgbClr val="C8CCD2"/>
                </a:solidFill>
                <a:latin typeface="Calibri"/>
                <a:ea typeface="Calibri"/>
                <a:cs typeface="Calibri"/>
                <a:sym typeface="Calibri"/>
              </a:rPr>
              <a:t>tqo2101</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8CCD2"/>
              </a:buClr>
              <a:buSzPts val="1300"/>
              <a:buFont typeface="Calibri"/>
              <a:buNone/>
            </a:pPr>
            <a:r>
              <a:rPr lang="en-US" sz="1300">
                <a:solidFill>
                  <a:srgbClr val="C8CCD2"/>
                </a:solidFill>
                <a:latin typeface="Calibri"/>
                <a:ea typeface="Calibri"/>
                <a:cs typeface="Calibri"/>
                <a:sym typeface="Calibri"/>
              </a:rPr>
              <a:t>Trisha Maturi</a:t>
            </a:r>
            <a:r>
              <a:rPr b="0" i="0" lang="en-US" sz="1300" u="none" cap="none" strike="noStrike">
                <a:solidFill>
                  <a:srgbClr val="C8CCD2"/>
                </a:solidFill>
                <a:latin typeface="Calibri"/>
                <a:ea typeface="Calibri"/>
                <a:cs typeface="Calibri"/>
                <a:sym typeface="Calibri"/>
              </a:rPr>
              <a:t> · </a:t>
            </a:r>
            <a:r>
              <a:rPr lang="en-US" sz="1300">
                <a:solidFill>
                  <a:srgbClr val="C8CCD2"/>
                </a:solidFill>
                <a:latin typeface="Calibri"/>
                <a:ea typeface="Calibri"/>
                <a:cs typeface="Calibri"/>
                <a:sym typeface="Calibri"/>
              </a:rPr>
              <a:t>tm3530</a:t>
            </a:r>
            <a:endParaRPr sz="1300">
              <a:solidFill>
                <a:srgbClr val="C8CCD2"/>
              </a:solidFill>
              <a:latin typeface="Calibri"/>
              <a:ea typeface="Calibri"/>
              <a:cs typeface="Calibri"/>
              <a:sym typeface="Calibri"/>
            </a:endParaRPr>
          </a:p>
          <a:p>
            <a:pPr indent="0" lvl="0" marL="0" marR="0" rtl="0" algn="l">
              <a:spcBef>
                <a:spcPts val="0"/>
              </a:spcBef>
              <a:spcAft>
                <a:spcPts val="0"/>
              </a:spcAft>
              <a:buClr>
                <a:srgbClr val="C8CCD2"/>
              </a:buClr>
              <a:buSzPts val="1300"/>
              <a:buFont typeface="Calibri"/>
              <a:buNone/>
            </a:pPr>
            <a:r>
              <a:rPr lang="en-US" sz="1300">
                <a:solidFill>
                  <a:srgbClr val="C8CCD2"/>
                </a:solidFill>
                <a:latin typeface="Calibri"/>
                <a:ea typeface="Calibri"/>
                <a:cs typeface="Calibri"/>
                <a:sym typeface="Calibri"/>
              </a:rPr>
              <a:t>Yeshitha Bhuvanesh</a:t>
            </a:r>
            <a:r>
              <a:rPr lang="en-US" sz="1300">
                <a:solidFill>
                  <a:srgbClr val="C8CCD2"/>
                </a:solidFill>
                <a:latin typeface="Calibri"/>
                <a:ea typeface="Calibri"/>
                <a:cs typeface="Calibri"/>
                <a:sym typeface="Calibri"/>
              </a:rPr>
              <a:t> · yb2649</a:t>
            </a:r>
            <a:endParaRPr sz="1300">
              <a:solidFill>
                <a:srgbClr val="C8CCD2"/>
              </a:solidFill>
              <a:latin typeface="Calibri"/>
              <a:ea typeface="Calibri"/>
              <a:cs typeface="Calibri"/>
              <a:sym typeface="Calibri"/>
            </a:endParaRPr>
          </a:p>
        </p:txBody>
      </p:sp>
      <p:sp>
        <p:nvSpPr>
          <p:cNvPr id="20" name="Google Shape;20;p1"/>
          <p:cNvSpPr/>
          <p:nvPr/>
        </p:nvSpPr>
        <p:spPr>
          <a:xfrm>
            <a:off x="6400800" y="4572000"/>
            <a:ext cx="5486400" cy="1463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lang="en-US">
                <a:solidFill>
                  <a:schemeClr val="lt1"/>
                </a:solidFill>
                <a:latin typeface="Calibri"/>
                <a:ea typeface="Calibri"/>
                <a:cs typeface="Calibri"/>
                <a:sym typeface="Calibri"/>
              </a:rPr>
              <a:t>GitHub:  </a:t>
            </a:r>
            <a:r>
              <a:rPr lang="en-US">
                <a:solidFill>
                  <a:schemeClr val="lt1"/>
                </a:solidFill>
                <a:uFill>
                  <a:noFill/>
                </a:uFill>
                <a:latin typeface="Calibri"/>
                <a:ea typeface="Calibri"/>
                <a:cs typeface="Calibri"/>
                <a:sym typeface="Calibri"/>
                <a:hlinkClick r:id="rId3">
                  <a:extLst>
                    <a:ext uri="{A12FA001-AC4F-418D-AE19-62706E023703}">
                      <ahyp:hlinkClr val="tx"/>
                    </a:ext>
                  </a:extLst>
                </a:hlinkClick>
              </a:rPr>
              <a:t>https://github.com/kmn01/AssetOpsBench</a:t>
            </a:r>
            <a:r>
              <a:rPr lang="en-US">
                <a:solidFill>
                  <a:schemeClr val="lt1"/>
                </a:solidFill>
                <a:latin typeface="Calibri"/>
                <a:ea typeface="Calibri"/>
                <a:cs typeface="Calibri"/>
                <a:sym typeface="Calibri"/>
              </a:rPr>
              <a:t> </a:t>
            </a:r>
            <a:endParaRPr>
              <a:solidFill>
                <a:schemeClr val="lt1"/>
              </a:solidFill>
              <a:latin typeface="Calibri"/>
              <a:ea typeface="Calibri"/>
              <a:cs typeface="Calibri"/>
              <a:sym typeface="Calibri"/>
            </a:endParaRPr>
          </a:p>
          <a:p>
            <a:pPr indent="0" lvl="0" marL="0" marR="0" rtl="0" algn="l">
              <a:spcBef>
                <a:spcPts val="0"/>
              </a:spcBef>
              <a:spcAft>
                <a:spcPts val="0"/>
              </a:spcAft>
              <a:buClr>
                <a:srgbClr val="FFFFFF"/>
              </a:buClr>
              <a:buSzPts val="1300"/>
              <a:buFont typeface="Calibri"/>
              <a:buNone/>
            </a:pPr>
            <a:r>
              <a:rPr lang="en-US">
                <a:solidFill>
                  <a:schemeClr val="lt1"/>
                </a:solidFill>
                <a:latin typeface="Calibri"/>
                <a:ea typeface="Calibri"/>
                <a:cs typeface="Calibri"/>
                <a:sym typeface="Calibri"/>
              </a:rPr>
              <a:t>Tracking:  </a:t>
            </a:r>
            <a:r>
              <a:rPr lang="en-US">
                <a:solidFill>
                  <a:schemeClr val="lt1"/>
                </a:solidFill>
                <a:uFill>
                  <a:noFill/>
                </a:uFill>
                <a:latin typeface="Calibri"/>
                <a:ea typeface="Calibri"/>
                <a:cs typeface="Calibri"/>
                <a:sym typeface="Calibri"/>
                <a:hlinkClick r:id="rId4">
                  <a:extLst>
                    <a:ext uri="{A12FA001-AC4F-418D-AE19-62706E023703}">
                      <ahyp:hlinkClr val="tx"/>
                    </a:ext>
                  </a:extLst>
                </a:hlinkClick>
              </a:rPr>
              <a:t>https://wandb.ai/kmn01-columbia-university/HPML%20Project</a:t>
            </a:r>
            <a:r>
              <a:rPr lang="en-US">
                <a:solidFill>
                  <a:schemeClr val="lt1"/>
                </a:solidFill>
                <a:latin typeface="Calibri"/>
                <a:ea typeface="Calibri"/>
                <a:cs typeface="Calibri"/>
                <a:sym typeface="Calibri"/>
              </a:rPr>
              <a:t> </a:t>
            </a:r>
            <a:endParaRPr>
              <a:solidFill>
                <a:schemeClr val="lt1"/>
              </a:solidFill>
              <a:latin typeface="Calibri"/>
              <a:ea typeface="Calibri"/>
              <a:cs typeface="Calibri"/>
              <a:sym typeface="Calibri"/>
            </a:endParaRPr>
          </a:p>
        </p:txBody>
      </p:sp>
      <p:sp>
        <p:nvSpPr>
          <p:cNvPr id="21" name="Google Shape;21;p1"/>
          <p:cNvSpPr/>
          <p:nvPr/>
        </p:nvSpPr>
        <p:spPr>
          <a:xfrm>
            <a:off x="548640" y="640080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E939A"/>
              </a:buClr>
              <a:buSzPts val="1000"/>
              <a:buFont typeface="Calibri"/>
              <a:buNone/>
            </a:pPr>
            <a:r>
              <a:rPr b="0" i="1" lang="en-US" sz="1000" u="none" cap="none" strike="noStrike">
                <a:solidFill>
                  <a:srgbClr val="8E939A"/>
                </a:solidFill>
                <a:latin typeface="Calibri"/>
                <a:ea typeface="Calibri"/>
                <a:cs typeface="Calibri"/>
                <a:sym typeface="Calibri"/>
              </a:rPr>
              <a:t>Dr. Kaoutar El Maghraoui  ·  Columbia University  ·  May </a:t>
            </a:r>
            <a:r>
              <a:rPr i="1" lang="en-US" sz="1000">
                <a:solidFill>
                  <a:srgbClr val="8E939A"/>
                </a:solidFill>
                <a:latin typeface="Calibri"/>
                <a:ea typeface="Calibri"/>
                <a:cs typeface="Calibri"/>
                <a:sym typeface="Calibri"/>
              </a:rPr>
              <a:t>7</a:t>
            </a:r>
            <a:r>
              <a:rPr b="0" i="1" lang="en-US" sz="1000" u="none" cap="none" strike="noStrike">
                <a:solidFill>
                  <a:srgbClr val="8E939A"/>
                </a:solidFill>
                <a:latin typeface="Calibri"/>
                <a:ea typeface="Calibri"/>
                <a:cs typeface="Calibri"/>
                <a:sym typeface="Calibri"/>
              </a:rPr>
              <a:t>, 2026</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 name="Shape 26"/>
        <p:cNvGrpSpPr/>
        <p:nvPr/>
      </p:nvGrpSpPr>
      <p:grpSpPr>
        <a:xfrm>
          <a:off x="0" y="0"/>
          <a:ext cx="0" cy="0"/>
          <a:chOff x="0" y="0"/>
          <a:chExt cx="0" cy="0"/>
        </a:xfrm>
      </p:grpSpPr>
      <p:sp>
        <p:nvSpPr>
          <p:cNvPr id="27" name="Google Shape;27;p2"/>
          <p:cNvSpPr/>
          <p:nvPr/>
        </p:nvSpPr>
        <p:spPr>
          <a:xfrm>
            <a:off x="457200" y="502920"/>
            <a:ext cx="1127455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Motivation &amp; Problem</a:t>
            </a:r>
            <a:endParaRPr b="0" i="0" sz="3200" u="none" cap="none" strike="noStrike">
              <a:solidFill>
                <a:schemeClr val="dk1"/>
              </a:solidFill>
              <a:latin typeface="Calibri"/>
              <a:ea typeface="Calibri"/>
              <a:cs typeface="Calibri"/>
              <a:sym typeface="Calibri"/>
            </a:endParaRPr>
          </a:p>
        </p:txBody>
      </p:sp>
      <p:cxnSp>
        <p:nvCxnSpPr>
          <p:cNvPr id="28" name="Google Shape;28;p2"/>
          <p:cNvCxnSpPr/>
          <p:nvPr/>
        </p:nvCxnSpPr>
        <p:spPr>
          <a:xfrm>
            <a:off x="457200" y="1188720"/>
            <a:ext cx="11274552" cy="0"/>
          </a:xfrm>
          <a:prstGeom prst="straightConnector1">
            <a:avLst/>
          </a:prstGeom>
          <a:noFill/>
          <a:ln cap="flat" cmpd="sng" w="9525">
            <a:solidFill>
              <a:srgbClr val="D9D9D9"/>
            </a:solidFill>
            <a:prstDash val="solid"/>
            <a:round/>
            <a:headEnd len="sm" w="sm" type="none"/>
            <a:tailEnd len="sm" w="sm" type="none"/>
          </a:ln>
        </p:spPr>
      </p:cxnSp>
      <p:sp>
        <p:nvSpPr>
          <p:cNvPr id="29" name="Google Shape;29;p2"/>
          <p:cNvSpPr/>
          <p:nvPr/>
        </p:nvSpPr>
        <p:spPr>
          <a:xfrm>
            <a:off x="457200" y="182880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Why this matters</a:t>
            </a:r>
            <a:endParaRPr b="0" i="0" sz="1600" u="none" cap="none" strike="noStrike">
              <a:solidFill>
                <a:schemeClr val="dk1"/>
              </a:solidFill>
              <a:latin typeface="Calibri"/>
              <a:ea typeface="Calibri"/>
              <a:cs typeface="Calibri"/>
              <a:sym typeface="Calibri"/>
            </a:endParaRPr>
          </a:p>
        </p:txBody>
      </p:sp>
      <p:sp>
        <p:nvSpPr>
          <p:cNvPr id="30" name="Google Shape;30;p2"/>
          <p:cNvSpPr/>
          <p:nvPr/>
        </p:nvSpPr>
        <p:spPr>
          <a:xfrm>
            <a:off x="457200" y="2286000"/>
            <a:ext cx="5486400" cy="3657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80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We are surrounded by Industrial Assets that we don’t notice:</a:t>
            </a:r>
            <a:endParaRPr sz="1500">
              <a:solidFill>
                <a:srgbClr val="1A1A1A"/>
              </a:solidFill>
              <a:latin typeface="Calibri"/>
              <a:ea typeface="Calibri"/>
              <a:cs typeface="Calibri"/>
              <a:sym typeface="Calibri"/>
            </a:endParaRPr>
          </a:p>
          <a:p>
            <a:pPr indent="-323850" lvl="1" marL="914400" marR="0" rtl="0" algn="l">
              <a:lnSpc>
                <a:spcPct val="100000"/>
              </a:lnSpc>
              <a:spcBef>
                <a:spcPts val="80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Data Centers use </a:t>
            </a:r>
            <a:r>
              <a:rPr b="1" lang="en-US" sz="1500">
                <a:solidFill>
                  <a:srgbClr val="1A1A1A"/>
                </a:solidFill>
                <a:latin typeface="Calibri"/>
                <a:ea typeface="Calibri"/>
                <a:cs typeface="Calibri"/>
                <a:sym typeface="Calibri"/>
              </a:rPr>
              <a:t>Chillers </a:t>
            </a:r>
            <a:r>
              <a:rPr lang="en-US" sz="1500">
                <a:solidFill>
                  <a:srgbClr val="1A1A1A"/>
                </a:solidFill>
                <a:latin typeface="Calibri"/>
                <a:ea typeface="Calibri"/>
                <a:cs typeface="Calibri"/>
                <a:sym typeface="Calibri"/>
              </a:rPr>
              <a:t>and </a:t>
            </a:r>
            <a:r>
              <a:rPr b="1" lang="en-US" sz="1500">
                <a:solidFill>
                  <a:srgbClr val="1A1A1A"/>
                </a:solidFill>
                <a:latin typeface="Calibri"/>
                <a:ea typeface="Calibri"/>
                <a:cs typeface="Calibri"/>
                <a:sym typeface="Calibri"/>
              </a:rPr>
              <a:t>Air Handling </a:t>
            </a:r>
            <a:r>
              <a:rPr lang="en-US" sz="1500">
                <a:solidFill>
                  <a:srgbClr val="1A1A1A"/>
                </a:solidFill>
                <a:latin typeface="Calibri"/>
                <a:ea typeface="Calibri"/>
                <a:cs typeface="Calibri"/>
                <a:sym typeface="Calibri"/>
              </a:rPr>
              <a:t>units to keep electronics operating efficiently</a:t>
            </a:r>
            <a:endParaRPr sz="1500">
              <a:solidFill>
                <a:srgbClr val="1A1A1A"/>
              </a:solidFill>
              <a:latin typeface="Calibri"/>
              <a:ea typeface="Calibri"/>
              <a:cs typeface="Calibri"/>
              <a:sym typeface="Calibri"/>
            </a:endParaRPr>
          </a:p>
          <a:p>
            <a:pPr indent="-323850" lvl="1" marL="914400" rtl="0" algn="l">
              <a:spcBef>
                <a:spcPts val="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Hospitals have </a:t>
            </a:r>
            <a:r>
              <a:rPr b="1" lang="en-US" sz="1500">
                <a:solidFill>
                  <a:srgbClr val="1A1A1A"/>
                </a:solidFill>
                <a:latin typeface="Calibri"/>
                <a:ea typeface="Calibri"/>
                <a:cs typeface="Calibri"/>
                <a:sym typeface="Calibri"/>
              </a:rPr>
              <a:t>Backup Generators</a:t>
            </a:r>
            <a:r>
              <a:rPr lang="en-US" sz="1500">
                <a:solidFill>
                  <a:srgbClr val="1A1A1A"/>
                </a:solidFill>
                <a:latin typeface="Calibri"/>
                <a:ea typeface="Calibri"/>
                <a:cs typeface="Calibri"/>
                <a:sym typeface="Calibri"/>
              </a:rPr>
              <a:t> to maintain uninterrupted operations.</a:t>
            </a:r>
            <a:endParaRPr sz="1500">
              <a:solidFill>
                <a:srgbClr val="1A1A1A"/>
              </a:solidFill>
              <a:latin typeface="Calibri"/>
              <a:ea typeface="Calibri"/>
              <a:cs typeface="Calibri"/>
              <a:sym typeface="Calibri"/>
            </a:endParaRPr>
          </a:p>
          <a:p>
            <a:pPr indent="-342900" lvl="0" marL="342900" marR="0" rtl="0" algn="l">
              <a:lnSpc>
                <a:spcPct val="100000"/>
              </a:lnSpc>
              <a:spcBef>
                <a:spcPts val="80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Assembly line downtime costs $1M+ per hour in assembly.</a:t>
            </a:r>
            <a:endParaRPr sz="1500">
              <a:solidFill>
                <a:srgbClr val="1A1A1A"/>
              </a:solidFill>
              <a:latin typeface="Calibri"/>
              <a:ea typeface="Calibri"/>
              <a:cs typeface="Calibri"/>
              <a:sym typeface="Calibri"/>
            </a:endParaRPr>
          </a:p>
          <a:p>
            <a:pPr indent="-342900" lvl="0" marL="342900" marR="0" rtl="0" algn="l">
              <a:lnSpc>
                <a:spcPct val="100000"/>
              </a:lnSpc>
              <a:spcBef>
                <a:spcPts val="80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Static LLMs lack real-time asset knowledge to directly answer questions on industrial machines. </a:t>
            </a:r>
            <a:endParaRPr sz="1500">
              <a:solidFill>
                <a:srgbClr val="1A1A1A"/>
              </a:solidFill>
              <a:latin typeface="Calibri"/>
              <a:ea typeface="Calibri"/>
              <a:cs typeface="Calibri"/>
              <a:sym typeface="Calibri"/>
            </a:endParaRPr>
          </a:p>
          <a:p>
            <a:pPr indent="-342900" lvl="0" marL="342900" marR="0" rtl="0" algn="l">
              <a:lnSpc>
                <a:spcPct val="100000"/>
              </a:lnSpc>
              <a:spcBef>
                <a:spcPts val="80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On the other hand, industrial environments are complex, high-stakes, and contain an overwhelming amount of telemetry data.</a:t>
            </a:r>
            <a:endParaRPr sz="1500">
              <a:solidFill>
                <a:srgbClr val="1A1A1A"/>
              </a:solidFill>
              <a:latin typeface="Calibri"/>
              <a:ea typeface="Calibri"/>
              <a:cs typeface="Calibri"/>
              <a:sym typeface="Calibri"/>
            </a:endParaRPr>
          </a:p>
        </p:txBody>
      </p:sp>
      <p:sp>
        <p:nvSpPr>
          <p:cNvPr id="31" name="Google Shape;31;p2"/>
          <p:cNvSpPr/>
          <p:nvPr/>
        </p:nvSpPr>
        <p:spPr>
          <a:xfrm>
            <a:off x="6263640" y="182880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Problem statement</a:t>
            </a:r>
            <a:endParaRPr b="0" i="0" sz="1600" u="none" cap="none" strike="noStrike">
              <a:solidFill>
                <a:schemeClr val="dk1"/>
              </a:solidFill>
              <a:latin typeface="Calibri"/>
              <a:ea typeface="Calibri"/>
              <a:cs typeface="Calibri"/>
              <a:sym typeface="Calibri"/>
            </a:endParaRPr>
          </a:p>
        </p:txBody>
      </p:sp>
      <p:sp>
        <p:nvSpPr>
          <p:cNvPr id="32" name="Google Shape;32;p2"/>
          <p:cNvSpPr/>
          <p:nvPr/>
        </p:nvSpPr>
        <p:spPr>
          <a:xfrm>
            <a:off x="6263640" y="2286000"/>
            <a:ext cx="5486400" cy="3657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500">
                <a:solidFill>
                  <a:srgbClr val="1A1A1A"/>
                </a:solidFill>
                <a:latin typeface="Calibri"/>
                <a:ea typeface="Calibri"/>
                <a:cs typeface="Calibri"/>
                <a:sym typeface="Calibri"/>
              </a:rPr>
              <a:t>On AssetOpsBench HuggingFace workloads, we target the latency blow‑up from higher-accuracy KP runs, as accuracy rises, end‑to‑end time can jump from around 20s (HF) to around 114–146s (HF3 / official KP), largely driven by long tool execution</a:t>
            </a:r>
            <a:r>
              <a:rPr lang="en-US"/>
              <a:t>.</a:t>
            </a:r>
            <a:endParaRPr/>
          </a:p>
          <a:p>
            <a:pPr indent="0" lvl="0" marL="0" rtl="0" algn="l">
              <a:spcBef>
                <a:spcPts val="0"/>
              </a:spcBef>
              <a:spcAft>
                <a:spcPts val="0"/>
              </a:spcAft>
              <a:buClr>
                <a:schemeClr val="dk1"/>
              </a:buClr>
              <a:buSzPts val="1100"/>
              <a:buFont typeface="Arial"/>
              <a:buNone/>
            </a:pPr>
            <a:r>
              <a:rPr lang="en-US"/>
              <a:t>In addition, plan-execute agents are bottlenecked by long planning loops, requiring handoff to deterministic workflows for improved efficiency.</a:t>
            </a:r>
            <a:endParaRPr/>
          </a:p>
          <a:p>
            <a:pPr indent="0" lvl="0" marL="0" marR="0" rtl="0" algn="l">
              <a:lnSpc>
                <a:spcPct val="100000"/>
              </a:lnSpc>
              <a:spcBef>
                <a:spcPts val="0"/>
              </a:spcBef>
              <a:spcAft>
                <a:spcPts val="0"/>
              </a:spcAft>
              <a:buClr>
                <a:srgbClr val="1A1A1A"/>
              </a:buClr>
              <a:buSzPts val="1500"/>
              <a:buFont typeface="Calibri"/>
              <a:buNone/>
            </a:pPr>
            <a:r>
              <a:t/>
            </a:r>
            <a:endParaRPr sz="1500">
              <a:solidFill>
                <a:srgbClr val="1A1A1A"/>
              </a:solidFill>
              <a:latin typeface="Calibri"/>
              <a:ea typeface="Calibri"/>
              <a:cs typeface="Calibri"/>
              <a:sym typeface="Calibri"/>
            </a:endParaRPr>
          </a:p>
          <a:p>
            <a:pPr indent="0" lvl="0" marL="0" marR="0" rtl="0" algn="l">
              <a:lnSpc>
                <a:spcPct val="100000"/>
              </a:lnSpc>
              <a:spcBef>
                <a:spcPts val="0"/>
              </a:spcBef>
              <a:spcAft>
                <a:spcPts val="0"/>
              </a:spcAft>
              <a:buClr>
                <a:srgbClr val="1A1A1A"/>
              </a:buClr>
              <a:buSzPts val="1500"/>
              <a:buFont typeface="Calibri"/>
              <a:buNone/>
            </a:pPr>
            <a:r>
              <a:rPr lang="en-US" sz="1500">
                <a:solidFill>
                  <a:srgbClr val="1A1A1A"/>
                </a:solidFill>
                <a:latin typeface="Calibri"/>
                <a:ea typeface="Calibri"/>
                <a:cs typeface="Calibri"/>
                <a:sym typeface="Calibri"/>
              </a:rPr>
              <a:t>We extend the Pareto frontier by evaluating the “</a:t>
            </a:r>
            <a:r>
              <a:rPr i="1" lang="en-US">
                <a:solidFill>
                  <a:srgbClr val="1A1A1A"/>
                </a:solidFill>
                <a:latin typeface="Calibri"/>
                <a:ea typeface="Calibri"/>
                <a:cs typeface="Calibri"/>
                <a:sym typeface="Calibri"/>
              </a:rPr>
              <a:t>llama-4-maverick-17b-128e-instruct-fp8”</a:t>
            </a:r>
            <a:r>
              <a:rPr lang="en-US" sz="1500">
                <a:solidFill>
                  <a:srgbClr val="1A1A1A"/>
                </a:solidFill>
                <a:latin typeface="Calibri"/>
                <a:ea typeface="Calibri"/>
                <a:cs typeface="Calibri"/>
                <a:sym typeface="Calibri"/>
              </a:rPr>
              <a:t>  model across varying scenarios across various tool calls.</a:t>
            </a:r>
            <a:endParaRPr sz="1500">
              <a:solidFill>
                <a:srgbClr val="1A1A1A"/>
              </a:solidFill>
              <a:latin typeface="Calibri"/>
              <a:ea typeface="Calibri"/>
              <a:cs typeface="Calibri"/>
              <a:sym typeface="Calibri"/>
            </a:endParaRPr>
          </a:p>
          <a:p>
            <a:pPr indent="0" lvl="0" marL="0" marR="0" rtl="0" algn="l">
              <a:lnSpc>
                <a:spcPct val="100000"/>
              </a:lnSpc>
              <a:spcBef>
                <a:spcPts val="0"/>
              </a:spcBef>
              <a:spcAft>
                <a:spcPts val="0"/>
              </a:spcAft>
              <a:buClr>
                <a:srgbClr val="1A1A1A"/>
              </a:buClr>
              <a:buSzPts val="1500"/>
              <a:buFont typeface="Calibri"/>
              <a:buNone/>
            </a:pPr>
            <a:r>
              <a:t/>
            </a:r>
            <a:endParaRPr sz="1500">
              <a:solidFill>
                <a:srgbClr val="1A1A1A"/>
              </a:solidFill>
              <a:latin typeface="Calibri"/>
              <a:ea typeface="Calibri"/>
              <a:cs typeface="Calibri"/>
              <a:sym typeface="Calibri"/>
            </a:endParaRPr>
          </a:p>
          <a:p>
            <a:pPr indent="0" lvl="0" marL="0" marR="0" rtl="0" algn="l">
              <a:spcBef>
                <a:spcPts val="800"/>
              </a:spcBef>
              <a:spcAft>
                <a:spcPts val="0"/>
              </a:spcAft>
              <a:buClr>
                <a:srgbClr val="1A1A1A"/>
              </a:buClr>
              <a:buSzPts val="1500"/>
              <a:buFont typeface="Calibri"/>
              <a:buNone/>
            </a:pPr>
            <a:r>
              <a:rPr b="1" i="0" lang="en-US" sz="1500" u="none" cap="none" strike="noStrike">
                <a:solidFill>
                  <a:srgbClr val="1A1A1A"/>
                </a:solidFill>
                <a:latin typeface="Calibri"/>
                <a:ea typeface="Calibri"/>
                <a:cs typeface="Calibri"/>
                <a:sym typeface="Calibri"/>
              </a:rPr>
              <a:t>Goal: </a:t>
            </a:r>
            <a:r>
              <a:rPr lang="en-US" sz="1500">
                <a:solidFill>
                  <a:srgbClr val="1A1A1A"/>
                </a:solidFill>
                <a:latin typeface="Calibri"/>
                <a:ea typeface="Calibri"/>
                <a:cs typeface="Calibri"/>
                <a:sym typeface="Calibri"/>
              </a:rPr>
              <a:t>A</a:t>
            </a:r>
            <a:r>
              <a:rPr lang="en-US" sz="1500">
                <a:solidFill>
                  <a:srgbClr val="1A1A1A"/>
                </a:solidFill>
                <a:latin typeface="Calibri"/>
                <a:ea typeface="Calibri"/>
                <a:cs typeface="Calibri"/>
                <a:sym typeface="Calibri"/>
              </a:rPr>
              <a:t>chieve 90% accuracy or above on the AssetOpsBench HuggingFace benchmark while still using the same small or medium sized LLM.</a:t>
            </a:r>
            <a:endParaRPr sz="1500">
              <a:solidFill>
                <a:srgbClr val="1A1A1A"/>
              </a:solidFill>
              <a:latin typeface="Calibri"/>
              <a:ea typeface="Calibri"/>
              <a:cs typeface="Calibri"/>
              <a:sym typeface="Calibri"/>
            </a:endParaRPr>
          </a:p>
        </p:txBody>
      </p:sp>
      <p:sp>
        <p:nvSpPr>
          <p:cNvPr id="33" name="Google Shape;33;p2"/>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34" name="Google Shape;34;p2"/>
          <p:cNvSpPr/>
          <p:nvPr/>
        </p:nvSpPr>
        <p:spPr>
          <a:xfrm>
            <a:off x="6245352" y="6537960"/>
            <a:ext cx="5486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2 / 14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 name="Shape 39"/>
        <p:cNvGrpSpPr/>
        <p:nvPr/>
      </p:nvGrpSpPr>
      <p:grpSpPr>
        <a:xfrm>
          <a:off x="0" y="0"/>
          <a:ext cx="0" cy="0"/>
          <a:chOff x="0" y="0"/>
          <a:chExt cx="0" cy="0"/>
        </a:xfrm>
      </p:grpSpPr>
      <p:sp>
        <p:nvSpPr>
          <p:cNvPr id="40" name="Google Shape;40;p3"/>
          <p:cNvSpPr/>
          <p:nvPr/>
        </p:nvSpPr>
        <p:spPr>
          <a:xfrm>
            <a:off x="457200" y="502920"/>
            <a:ext cx="1127455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Technical Approach — Model &amp; Data</a:t>
            </a:r>
            <a:endParaRPr b="0" i="0" sz="3200" u="none" cap="none" strike="noStrike">
              <a:solidFill>
                <a:schemeClr val="dk1"/>
              </a:solidFill>
              <a:latin typeface="Calibri"/>
              <a:ea typeface="Calibri"/>
              <a:cs typeface="Calibri"/>
              <a:sym typeface="Calibri"/>
            </a:endParaRPr>
          </a:p>
        </p:txBody>
      </p:sp>
      <p:cxnSp>
        <p:nvCxnSpPr>
          <p:cNvPr id="41" name="Google Shape;41;p3"/>
          <p:cNvCxnSpPr/>
          <p:nvPr/>
        </p:nvCxnSpPr>
        <p:spPr>
          <a:xfrm>
            <a:off x="457200" y="1188720"/>
            <a:ext cx="11274552" cy="0"/>
          </a:xfrm>
          <a:prstGeom prst="straightConnector1">
            <a:avLst/>
          </a:prstGeom>
          <a:noFill/>
          <a:ln cap="flat" cmpd="sng" w="9525">
            <a:solidFill>
              <a:srgbClr val="D9D9D9"/>
            </a:solidFill>
            <a:prstDash val="solid"/>
            <a:round/>
            <a:headEnd len="sm" w="sm" type="none"/>
            <a:tailEnd len="sm" w="sm" type="none"/>
          </a:ln>
        </p:spPr>
      </p:cxnSp>
      <p:sp>
        <p:nvSpPr>
          <p:cNvPr id="42" name="Google Shape;42;p3"/>
          <p:cNvSpPr/>
          <p:nvPr/>
        </p:nvSpPr>
        <p:spPr>
          <a:xfrm>
            <a:off x="457200" y="1828800"/>
            <a:ext cx="3584448" cy="4114800"/>
          </a:xfrm>
          <a:prstGeom prst="rect">
            <a:avLst/>
          </a:prstGeom>
          <a:solidFill>
            <a:srgbClr val="FFFFFF"/>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3"/>
          <p:cNvSpPr/>
          <p:nvPr/>
        </p:nvSpPr>
        <p:spPr>
          <a:xfrm>
            <a:off x="685800" y="2011680"/>
            <a:ext cx="3127248"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Model</a:t>
            </a:r>
            <a:endParaRPr b="0" i="0" sz="1600" u="none" cap="none" strike="noStrike">
              <a:solidFill>
                <a:schemeClr val="dk1"/>
              </a:solidFill>
              <a:latin typeface="Calibri"/>
              <a:ea typeface="Calibri"/>
              <a:cs typeface="Calibri"/>
              <a:sym typeface="Calibri"/>
            </a:endParaRPr>
          </a:p>
        </p:txBody>
      </p:sp>
      <p:sp>
        <p:nvSpPr>
          <p:cNvPr id="44" name="Google Shape;44;p3"/>
          <p:cNvSpPr/>
          <p:nvPr/>
        </p:nvSpPr>
        <p:spPr>
          <a:xfrm>
            <a:off x="685800" y="2468880"/>
            <a:ext cx="3127248" cy="3200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400"/>
              <a:buFont typeface="Calibri"/>
              <a:buNone/>
            </a:pPr>
            <a:r>
              <a:rPr b="1" lang="en-US">
                <a:solidFill>
                  <a:srgbClr val="1A1A1A"/>
                </a:solidFill>
                <a:latin typeface="Calibri"/>
                <a:ea typeface="Calibri"/>
                <a:cs typeface="Calibri"/>
                <a:sym typeface="Calibri"/>
              </a:rPr>
              <a:t>Model architecture</a:t>
            </a:r>
            <a:r>
              <a:rPr lang="en-US">
                <a:solidFill>
                  <a:srgbClr val="1A1A1A"/>
                </a:solidFill>
                <a:latin typeface="Calibri"/>
                <a:ea typeface="Calibri"/>
                <a:cs typeface="Calibri"/>
                <a:sym typeface="Calibri"/>
              </a:rPr>
              <a:t>: </a:t>
            </a:r>
            <a:r>
              <a:rPr i="1" lang="en-US">
                <a:solidFill>
                  <a:srgbClr val="1A1A1A"/>
                </a:solidFill>
                <a:latin typeface="Calibri"/>
                <a:ea typeface="Calibri"/>
                <a:cs typeface="Calibri"/>
                <a:sym typeface="Calibri"/>
              </a:rPr>
              <a:t>watsonx/meta-llama/llama-4-maverick-17b-128e-instruct-fp8</a:t>
            </a:r>
            <a:r>
              <a:rPr lang="en-US">
                <a:solidFill>
                  <a:srgbClr val="1A1A1A"/>
                </a:solidFill>
                <a:latin typeface="Calibri"/>
                <a:ea typeface="Calibri"/>
                <a:cs typeface="Calibri"/>
                <a:sym typeface="Calibri"/>
              </a:rPr>
              <a:t>; the runner also supports LiteLLM-backed models through --model-id.</a:t>
            </a:r>
            <a:endParaRPr>
              <a:solidFill>
                <a:srgbClr val="1A1A1A"/>
              </a:solidFill>
              <a:latin typeface="Calibri"/>
              <a:ea typeface="Calibri"/>
              <a:cs typeface="Calibri"/>
              <a:sym typeface="Calibri"/>
            </a:endParaRPr>
          </a:p>
          <a:p>
            <a:pPr indent="0" lvl="0" marL="0" marR="0" rtl="0" algn="l">
              <a:spcBef>
                <a:spcPts val="0"/>
              </a:spcBef>
              <a:spcAft>
                <a:spcPts val="0"/>
              </a:spcAft>
              <a:buClr>
                <a:srgbClr val="1A1A1A"/>
              </a:buClr>
              <a:buSzPts val="1400"/>
              <a:buFont typeface="Calibri"/>
              <a:buNone/>
            </a:pPr>
            <a:r>
              <a:t/>
            </a:r>
            <a:endParaRPr>
              <a:solidFill>
                <a:srgbClr val="1A1A1A"/>
              </a:solidFill>
              <a:latin typeface="Calibri"/>
              <a:ea typeface="Calibri"/>
              <a:cs typeface="Calibri"/>
              <a:sym typeface="Calibri"/>
            </a:endParaRPr>
          </a:p>
          <a:p>
            <a:pPr indent="0" lvl="0" marL="0" marR="0" rtl="0" algn="l">
              <a:spcBef>
                <a:spcPts val="0"/>
              </a:spcBef>
              <a:spcAft>
                <a:spcPts val="0"/>
              </a:spcAft>
              <a:buClr>
                <a:srgbClr val="1A1A1A"/>
              </a:buClr>
              <a:buSzPts val="1400"/>
              <a:buFont typeface="Calibri"/>
              <a:buNone/>
            </a:pPr>
            <a:r>
              <a:rPr b="1" lang="en-US">
                <a:solidFill>
                  <a:srgbClr val="1A1A1A"/>
                </a:solidFill>
                <a:latin typeface="Calibri"/>
                <a:ea typeface="Calibri"/>
                <a:cs typeface="Calibri"/>
                <a:sym typeface="Calibri"/>
              </a:rPr>
              <a:t>Parameter Count: </a:t>
            </a:r>
            <a:r>
              <a:rPr lang="en-US">
                <a:solidFill>
                  <a:srgbClr val="1A1A1A"/>
                </a:solidFill>
                <a:latin typeface="Calibri"/>
                <a:ea typeface="Calibri"/>
                <a:cs typeface="Calibri"/>
                <a:sym typeface="Calibri"/>
              </a:rPr>
              <a:t>17b</a:t>
            </a:r>
            <a:endParaRPr>
              <a:solidFill>
                <a:srgbClr val="1A1A1A"/>
              </a:solidFill>
              <a:latin typeface="Calibri"/>
              <a:ea typeface="Calibri"/>
              <a:cs typeface="Calibri"/>
              <a:sym typeface="Calibri"/>
            </a:endParaRPr>
          </a:p>
          <a:p>
            <a:pPr indent="0" lvl="0" marL="0" marR="0" rtl="0" algn="l">
              <a:spcBef>
                <a:spcPts val="0"/>
              </a:spcBef>
              <a:spcAft>
                <a:spcPts val="0"/>
              </a:spcAft>
              <a:buClr>
                <a:srgbClr val="1A1A1A"/>
              </a:buClr>
              <a:buSzPts val="1400"/>
              <a:buFont typeface="Calibri"/>
              <a:buNone/>
            </a:pPr>
            <a:r>
              <a:t/>
            </a:r>
            <a:endParaRPr>
              <a:solidFill>
                <a:srgbClr val="1A1A1A"/>
              </a:solidFill>
              <a:latin typeface="Calibri"/>
              <a:ea typeface="Calibri"/>
              <a:cs typeface="Calibri"/>
              <a:sym typeface="Calibri"/>
            </a:endParaRPr>
          </a:p>
          <a:p>
            <a:pPr indent="0" lvl="0" marL="0" marR="0" rtl="0" algn="l">
              <a:spcBef>
                <a:spcPts val="0"/>
              </a:spcBef>
              <a:spcAft>
                <a:spcPts val="0"/>
              </a:spcAft>
              <a:buClr>
                <a:srgbClr val="1A1A1A"/>
              </a:buClr>
              <a:buSzPts val="1400"/>
              <a:buFont typeface="Calibri"/>
              <a:buNone/>
            </a:pPr>
            <a:r>
              <a:rPr b="1" lang="en-US">
                <a:solidFill>
                  <a:srgbClr val="1A1A1A"/>
                </a:solidFill>
                <a:latin typeface="Calibri"/>
                <a:ea typeface="Calibri"/>
                <a:cs typeface="Calibri"/>
                <a:sym typeface="Calibri"/>
              </a:rPr>
              <a:t>Framework</a:t>
            </a:r>
            <a:r>
              <a:rPr lang="en-US">
                <a:solidFill>
                  <a:srgbClr val="1A1A1A"/>
                </a:solidFill>
                <a:latin typeface="Calibri"/>
                <a:ea typeface="Calibri"/>
                <a:cs typeface="Calibri"/>
                <a:sym typeface="Calibri"/>
              </a:rPr>
              <a:t>: Python 3.12+, uv, Model Context Protocol / FastMCP, LiteLLM, IBM WatsonX, CouchDB, Pydantic, NumPy, Pandas, SciPy, ChromaDB, and sentence-transformers.</a:t>
            </a:r>
            <a:endParaRPr>
              <a:solidFill>
                <a:srgbClr val="1A1A1A"/>
              </a:solidFill>
              <a:latin typeface="Calibri"/>
              <a:ea typeface="Calibri"/>
              <a:cs typeface="Calibri"/>
              <a:sym typeface="Calibri"/>
            </a:endParaRPr>
          </a:p>
        </p:txBody>
      </p:sp>
      <p:sp>
        <p:nvSpPr>
          <p:cNvPr id="45" name="Google Shape;45;p3"/>
          <p:cNvSpPr/>
          <p:nvPr/>
        </p:nvSpPr>
        <p:spPr>
          <a:xfrm>
            <a:off x="4315975" y="1828800"/>
            <a:ext cx="3584400" cy="3299100"/>
          </a:xfrm>
          <a:prstGeom prst="rect">
            <a:avLst/>
          </a:prstGeom>
          <a:solidFill>
            <a:srgbClr val="FFFFFF"/>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4544568" y="2011680"/>
            <a:ext cx="3127248"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Dataset</a:t>
            </a:r>
            <a:endParaRPr b="0" i="0" sz="1600" u="none" cap="none" strike="noStrike">
              <a:solidFill>
                <a:schemeClr val="dk1"/>
              </a:solidFill>
              <a:latin typeface="Calibri"/>
              <a:ea typeface="Calibri"/>
              <a:cs typeface="Calibri"/>
              <a:sym typeface="Calibri"/>
            </a:endParaRPr>
          </a:p>
        </p:txBody>
      </p:sp>
      <p:sp>
        <p:nvSpPr>
          <p:cNvPr id="47" name="Google Shape;47;p3"/>
          <p:cNvSpPr/>
          <p:nvPr/>
        </p:nvSpPr>
        <p:spPr>
          <a:xfrm>
            <a:off x="4544575" y="2468875"/>
            <a:ext cx="3127200" cy="2397600"/>
          </a:xfrm>
          <a:prstGeom prst="rect">
            <a:avLst/>
          </a:prstGeom>
          <a:noFill/>
          <a:ln>
            <a:noFill/>
          </a:ln>
        </p:spPr>
        <p:txBody>
          <a:bodyPr anchorCtr="0" anchor="t" bIns="0" lIns="0" spcFirstLastPara="1" rIns="0" wrap="square" tIns="0">
            <a:noAutofit/>
          </a:bodyPr>
          <a:lstStyle/>
          <a:p>
            <a:pPr indent="-317500" lvl="0" marL="457200" marR="0" rtl="0" algn="l">
              <a:spcBef>
                <a:spcPts val="0"/>
              </a:spcBef>
              <a:spcAft>
                <a:spcPts val="0"/>
              </a:spcAft>
              <a:buClr>
                <a:schemeClr val="dk1"/>
              </a:buClr>
              <a:buSzPts val="1400"/>
              <a:buFont typeface="Calibri"/>
              <a:buChar char="●"/>
            </a:pPr>
            <a:r>
              <a:rPr lang="en-US">
                <a:solidFill>
                  <a:srgbClr val="1A1A1A"/>
                </a:solidFill>
                <a:latin typeface="Calibri"/>
                <a:ea typeface="Calibri"/>
                <a:cs typeface="Calibri"/>
                <a:sym typeface="Calibri"/>
              </a:rPr>
              <a:t>IBM AssetOpsBench Dataset on HuggingFace</a:t>
            </a:r>
            <a:endParaRPr>
              <a:solidFill>
                <a:srgbClr val="1A1A1A"/>
              </a:solidFill>
              <a:latin typeface="Calibri"/>
              <a:ea typeface="Calibri"/>
              <a:cs typeface="Calibri"/>
              <a:sym typeface="Calibri"/>
            </a:endParaRPr>
          </a:p>
          <a:p>
            <a:pPr indent="-317500" lvl="0" marL="457200" marR="0" rtl="0" algn="l">
              <a:spcBef>
                <a:spcPts val="0"/>
              </a:spcBef>
              <a:spcAft>
                <a:spcPts val="0"/>
              </a:spcAft>
              <a:buClr>
                <a:srgbClr val="1A1A1A"/>
              </a:buClr>
              <a:buSzPts val="1400"/>
              <a:buFont typeface="Calibri"/>
              <a:buChar char="●"/>
            </a:pPr>
            <a:r>
              <a:rPr lang="en-US">
                <a:solidFill>
                  <a:srgbClr val="1A1A1A"/>
                </a:solidFill>
                <a:latin typeface="Calibri"/>
                <a:ea typeface="Calibri"/>
                <a:cs typeface="Calibri"/>
                <a:sym typeface="Calibri"/>
              </a:rPr>
              <a:t>License: Apache license 2.0</a:t>
            </a:r>
            <a:endParaRPr>
              <a:solidFill>
                <a:srgbClr val="1A1A1A"/>
              </a:solidFill>
              <a:latin typeface="Calibri"/>
              <a:ea typeface="Calibri"/>
              <a:cs typeface="Calibri"/>
              <a:sym typeface="Calibri"/>
            </a:endParaRPr>
          </a:p>
          <a:p>
            <a:pPr indent="0" lvl="0" marL="0" marR="0" rtl="0" algn="l">
              <a:spcBef>
                <a:spcPts val="0"/>
              </a:spcBef>
              <a:spcAft>
                <a:spcPts val="0"/>
              </a:spcAft>
              <a:buNone/>
            </a:pPr>
            <a:r>
              <a:t/>
            </a:r>
            <a:endParaRPr>
              <a:solidFill>
                <a:srgbClr val="1A1A1A"/>
              </a:solidFill>
              <a:latin typeface="Calibri"/>
              <a:ea typeface="Calibri"/>
              <a:cs typeface="Calibri"/>
              <a:sym typeface="Calibri"/>
            </a:endParaRPr>
          </a:p>
        </p:txBody>
      </p:sp>
      <p:sp>
        <p:nvSpPr>
          <p:cNvPr id="48" name="Google Shape;48;p3"/>
          <p:cNvSpPr/>
          <p:nvPr/>
        </p:nvSpPr>
        <p:spPr>
          <a:xfrm>
            <a:off x="8174736" y="1828800"/>
            <a:ext cx="3584448" cy="4114800"/>
          </a:xfrm>
          <a:prstGeom prst="rect">
            <a:avLst/>
          </a:prstGeom>
          <a:solidFill>
            <a:srgbClr val="FFFFFF"/>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3"/>
          <p:cNvSpPr/>
          <p:nvPr/>
        </p:nvSpPr>
        <p:spPr>
          <a:xfrm>
            <a:off x="8403336" y="2011680"/>
            <a:ext cx="3127248"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Hardware</a:t>
            </a:r>
            <a:endParaRPr b="0" i="0" sz="1600" u="none" cap="none" strike="noStrike">
              <a:solidFill>
                <a:schemeClr val="dk1"/>
              </a:solidFill>
              <a:latin typeface="Calibri"/>
              <a:ea typeface="Calibri"/>
              <a:cs typeface="Calibri"/>
              <a:sym typeface="Calibri"/>
            </a:endParaRPr>
          </a:p>
        </p:txBody>
      </p:sp>
      <p:sp>
        <p:nvSpPr>
          <p:cNvPr id="50" name="Google Shape;50;p3"/>
          <p:cNvSpPr/>
          <p:nvPr/>
        </p:nvSpPr>
        <p:spPr>
          <a:xfrm>
            <a:off x="8403336" y="2468880"/>
            <a:ext cx="3127248" cy="3200400"/>
          </a:xfrm>
          <a:prstGeom prst="rect">
            <a:avLst/>
          </a:prstGeom>
          <a:noFill/>
          <a:ln>
            <a:noFill/>
          </a:ln>
        </p:spPr>
        <p:txBody>
          <a:bodyPr anchorCtr="0" anchor="t" bIns="0" lIns="0" spcFirstLastPara="1" rIns="0" wrap="square" tIns="0">
            <a:noAutofit/>
          </a:bodyPr>
          <a:lstStyle/>
          <a:p>
            <a:pPr indent="-317500" lvl="0" marL="457200" marR="0" rtl="0" algn="l">
              <a:lnSpc>
                <a:spcPct val="100000"/>
              </a:lnSpc>
              <a:spcBef>
                <a:spcPts val="0"/>
              </a:spcBef>
              <a:spcAft>
                <a:spcPts val="0"/>
              </a:spcAft>
              <a:buClr>
                <a:schemeClr val="dk1"/>
              </a:buClr>
              <a:buSzPts val="1400"/>
              <a:buFont typeface="Calibri"/>
              <a:buChar char="●"/>
            </a:pPr>
            <a:r>
              <a:rPr lang="en-US">
                <a:solidFill>
                  <a:srgbClr val="1A1A1A"/>
                </a:solidFill>
                <a:latin typeface="Calibri"/>
                <a:ea typeface="Calibri"/>
                <a:cs typeface="Calibri"/>
                <a:sym typeface="Calibri"/>
              </a:rPr>
              <a:t>IBM’s WatsonX LLM API  through LiteLLM</a:t>
            </a:r>
            <a:endParaRPr b="0" i="0" sz="1400" u="none" cap="none" strike="noStrike">
              <a:solidFill>
                <a:schemeClr val="dk1"/>
              </a:solidFill>
              <a:latin typeface="Calibri"/>
              <a:ea typeface="Calibri"/>
              <a:cs typeface="Calibri"/>
              <a:sym typeface="Calibri"/>
            </a:endParaRPr>
          </a:p>
        </p:txBody>
      </p:sp>
      <p:sp>
        <p:nvSpPr>
          <p:cNvPr id="51" name="Google Shape;51;p3"/>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52" name="Google Shape;52;p3"/>
          <p:cNvSpPr/>
          <p:nvPr/>
        </p:nvSpPr>
        <p:spPr>
          <a:xfrm>
            <a:off x="6245352" y="6537960"/>
            <a:ext cx="5486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3 / 14</a:t>
            </a:r>
            <a:endParaRPr b="0" i="0" sz="1000" u="none" cap="none" strike="noStrike">
              <a:solidFill>
                <a:schemeClr val="dk1"/>
              </a:solidFill>
              <a:latin typeface="Calibri"/>
              <a:ea typeface="Calibri"/>
              <a:cs typeface="Calibri"/>
              <a:sym typeface="Calibri"/>
            </a:endParaRPr>
          </a:p>
        </p:txBody>
      </p:sp>
      <p:pic>
        <p:nvPicPr>
          <p:cNvPr id="53" name="Google Shape;53;p3"/>
          <p:cNvPicPr preferRelativeResize="0"/>
          <p:nvPr/>
        </p:nvPicPr>
        <p:blipFill>
          <a:blip r:embed="rId3">
            <a:alphaModFix/>
          </a:blip>
          <a:stretch>
            <a:fillRect/>
          </a:stretch>
        </p:blipFill>
        <p:spPr>
          <a:xfrm>
            <a:off x="4315963" y="3492050"/>
            <a:ext cx="7415777" cy="277415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 name="Shape 58"/>
        <p:cNvGrpSpPr/>
        <p:nvPr/>
      </p:nvGrpSpPr>
      <p:grpSpPr>
        <a:xfrm>
          <a:off x="0" y="0"/>
          <a:ext cx="0" cy="0"/>
          <a:chOff x="0" y="0"/>
          <a:chExt cx="0" cy="0"/>
        </a:xfrm>
      </p:grpSpPr>
      <p:sp>
        <p:nvSpPr>
          <p:cNvPr id="59" name="Google Shape;59;p4"/>
          <p:cNvSpPr/>
          <p:nvPr/>
        </p:nvSpPr>
        <p:spPr>
          <a:xfrm>
            <a:off x="457200" y="502920"/>
            <a:ext cx="1127455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Technical Approach — Optimizations Applied</a:t>
            </a:r>
            <a:endParaRPr b="0" i="0" sz="3200" u="none" cap="none" strike="noStrike">
              <a:solidFill>
                <a:schemeClr val="dk1"/>
              </a:solidFill>
              <a:latin typeface="Calibri"/>
              <a:ea typeface="Calibri"/>
              <a:cs typeface="Calibri"/>
              <a:sym typeface="Calibri"/>
            </a:endParaRPr>
          </a:p>
        </p:txBody>
      </p:sp>
      <p:cxnSp>
        <p:nvCxnSpPr>
          <p:cNvPr id="60" name="Google Shape;60;p4"/>
          <p:cNvCxnSpPr/>
          <p:nvPr/>
        </p:nvCxnSpPr>
        <p:spPr>
          <a:xfrm>
            <a:off x="457200" y="1188720"/>
            <a:ext cx="11274552" cy="0"/>
          </a:xfrm>
          <a:prstGeom prst="straightConnector1">
            <a:avLst/>
          </a:prstGeom>
          <a:noFill/>
          <a:ln cap="flat" cmpd="sng" w="9525">
            <a:solidFill>
              <a:srgbClr val="D9D9D9"/>
            </a:solidFill>
            <a:prstDash val="solid"/>
            <a:round/>
            <a:headEnd len="sm" w="sm" type="none"/>
            <a:tailEnd len="sm" w="sm" type="none"/>
          </a:ln>
        </p:spPr>
      </p:cxnSp>
      <p:sp>
        <p:nvSpPr>
          <p:cNvPr id="61" name="Google Shape;61;p4"/>
          <p:cNvSpPr/>
          <p:nvPr/>
        </p:nvSpPr>
        <p:spPr>
          <a:xfrm>
            <a:off x="457200" y="1874520"/>
            <a:ext cx="457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Calibri"/>
              <a:buNone/>
            </a:pPr>
            <a:r>
              <a:rPr b="1" i="0" lang="en-US" sz="2200" u="none" cap="none" strike="noStrike">
                <a:solidFill>
                  <a:srgbClr val="1A1A1A"/>
                </a:solidFill>
                <a:latin typeface="Calibri"/>
                <a:ea typeface="Calibri"/>
                <a:cs typeface="Calibri"/>
                <a:sym typeface="Calibri"/>
              </a:rPr>
              <a:t>1.</a:t>
            </a:r>
            <a:endParaRPr b="0" i="0" sz="2200" u="none" cap="none" strike="noStrike">
              <a:solidFill>
                <a:schemeClr val="dk1"/>
              </a:solidFill>
              <a:latin typeface="Calibri"/>
              <a:ea typeface="Calibri"/>
              <a:cs typeface="Calibri"/>
              <a:sym typeface="Calibri"/>
            </a:endParaRPr>
          </a:p>
        </p:txBody>
      </p:sp>
      <p:sp>
        <p:nvSpPr>
          <p:cNvPr id="62" name="Google Shape;62;p4"/>
          <p:cNvSpPr/>
          <p:nvPr/>
        </p:nvSpPr>
        <p:spPr>
          <a:xfrm>
            <a:off x="960120" y="1874520"/>
            <a:ext cx="10698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000"/>
              <a:buFont typeface="Calibri"/>
              <a:buNone/>
            </a:pPr>
            <a:r>
              <a:rPr b="1" lang="en-US" sz="2000">
                <a:solidFill>
                  <a:srgbClr val="1A1A1A"/>
                </a:solidFill>
                <a:latin typeface="Calibri"/>
                <a:ea typeface="Calibri"/>
                <a:cs typeface="Calibri"/>
                <a:sym typeface="Calibri"/>
              </a:rPr>
              <a:t>MCP Skills Server</a:t>
            </a:r>
            <a:endParaRPr b="0" i="0" sz="2000" u="none" cap="none" strike="noStrike">
              <a:solidFill>
                <a:schemeClr val="dk1"/>
              </a:solidFill>
              <a:latin typeface="Calibri"/>
              <a:ea typeface="Calibri"/>
              <a:cs typeface="Calibri"/>
              <a:sym typeface="Calibri"/>
            </a:endParaRPr>
          </a:p>
        </p:txBody>
      </p:sp>
      <p:sp>
        <p:nvSpPr>
          <p:cNvPr id="63" name="Google Shape;63;p4"/>
          <p:cNvSpPr/>
          <p:nvPr/>
        </p:nvSpPr>
        <p:spPr>
          <a:xfrm>
            <a:off x="960120" y="2377440"/>
            <a:ext cx="106984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400"/>
              <a:buFont typeface="Calibri"/>
              <a:buNone/>
            </a:pPr>
            <a:r>
              <a:rPr lang="en-US">
                <a:solidFill>
                  <a:srgbClr val="6B6F76"/>
                </a:solidFill>
                <a:latin typeface="Calibri"/>
                <a:ea typeface="Calibri"/>
                <a:cs typeface="Calibri"/>
                <a:sym typeface="Calibri"/>
              </a:rPr>
              <a:t>The MCP Skills Server targets the planning and arg resolution overhead bottleneck by turning repeated multi-tool maintenance workflows into discoverable skill calls, so the agent can invoke one namespaced skill instead of looping over multiple MCP servers to plan task execution.</a:t>
            </a:r>
            <a:endParaRPr>
              <a:solidFill>
                <a:srgbClr val="6B6F76"/>
              </a:solidFill>
              <a:latin typeface="Calibri"/>
              <a:ea typeface="Calibri"/>
              <a:cs typeface="Calibri"/>
              <a:sym typeface="Calibri"/>
            </a:endParaRPr>
          </a:p>
        </p:txBody>
      </p:sp>
      <p:sp>
        <p:nvSpPr>
          <p:cNvPr id="64" name="Google Shape;64;p4"/>
          <p:cNvSpPr/>
          <p:nvPr/>
        </p:nvSpPr>
        <p:spPr>
          <a:xfrm>
            <a:off x="457200" y="3291840"/>
            <a:ext cx="457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Calibri"/>
              <a:buNone/>
            </a:pPr>
            <a:r>
              <a:rPr b="1" i="0" lang="en-US" sz="2200" u="none" cap="none" strike="noStrike">
                <a:solidFill>
                  <a:srgbClr val="1A1A1A"/>
                </a:solidFill>
                <a:latin typeface="Calibri"/>
                <a:ea typeface="Calibri"/>
                <a:cs typeface="Calibri"/>
                <a:sym typeface="Calibri"/>
              </a:rPr>
              <a:t>2.</a:t>
            </a:r>
            <a:endParaRPr b="0" i="0" sz="2200" u="none" cap="none" strike="noStrike">
              <a:solidFill>
                <a:schemeClr val="dk1"/>
              </a:solidFill>
              <a:latin typeface="Calibri"/>
              <a:ea typeface="Calibri"/>
              <a:cs typeface="Calibri"/>
              <a:sym typeface="Calibri"/>
            </a:endParaRPr>
          </a:p>
        </p:txBody>
      </p:sp>
      <p:sp>
        <p:nvSpPr>
          <p:cNvPr id="65" name="Google Shape;65;p4"/>
          <p:cNvSpPr/>
          <p:nvPr/>
        </p:nvSpPr>
        <p:spPr>
          <a:xfrm>
            <a:off x="960120" y="3291840"/>
            <a:ext cx="10698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000"/>
              <a:buFont typeface="Calibri"/>
              <a:buNone/>
            </a:pPr>
            <a:r>
              <a:rPr b="1" lang="en-US" sz="2000">
                <a:solidFill>
                  <a:srgbClr val="1A1A1A"/>
                </a:solidFill>
                <a:latin typeface="Calibri"/>
                <a:ea typeface="Calibri"/>
                <a:cs typeface="Calibri"/>
                <a:sym typeface="Calibri"/>
              </a:rPr>
              <a:t>Knowledge Plugin</a:t>
            </a:r>
            <a:endParaRPr b="0" i="0" sz="2000" u="none" cap="none" strike="noStrike">
              <a:solidFill>
                <a:schemeClr val="dk1"/>
              </a:solidFill>
              <a:latin typeface="Calibri"/>
              <a:ea typeface="Calibri"/>
              <a:cs typeface="Calibri"/>
              <a:sym typeface="Calibri"/>
            </a:endParaRPr>
          </a:p>
        </p:txBody>
      </p:sp>
      <p:sp>
        <p:nvSpPr>
          <p:cNvPr id="66" name="Google Shape;66;p4"/>
          <p:cNvSpPr/>
          <p:nvPr/>
        </p:nvSpPr>
        <p:spPr>
          <a:xfrm>
            <a:off x="960120" y="3794760"/>
            <a:ext cx="106984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400"/>
              <a:buFont typeface="Calibri"/>
              <a:buNone/>
            </a:pPr>
            <a:r>
              <a:rPr lang="en-US">
                <a:solidFill>
                  <a:srgbClr val="6B6F76"/>
                </a:solidFill>
                <a:latin typeface="Calibri"/>
                <a:ea typeface="Calibri"/>
                <a:cs typeface="Calibri"/>
                <a:sym typeface="Calibri"/>
              </a:rPr>
              <a:t>The Knowledge Plugin </a:t>
            </a:r>
            <a:r>
              <a:rPr lang="en-US">
                <a:solidFill>
                  <a:srgbClr val="6B6F76"/>
                </a:solidFill>
                <a:latin typeface="Calibri"/>
                <a:ea typeface="Calibri"/>
                <a:cs typeface="Calibri"/>
                <a:sym typeface="Calibri"/>
              </a:rPr>
              <a:t>reduces retrieval overhead and </a:t>
            </a:r>
            <a:r>
              <a:rPr lang="en-US">
                <a:solidFill>
                  <a:srgbClr val="6B6F76"/>
                </a:solidFill>
                <a:latin typeface="Calibri"/>
                <a:ea typeface="Calibri"/>
                <a:cs typeface="Calibri"/>
                <a:sym typeface="Calibri"/>
              </a:rPr>
              <a:t>improves answer grounding by pre-indexing asset documentation in ChromaDB, enabling targeted semantic lookup with citations instead of repeatedly searching through raw documents at inference time.</a:t>
            </a:r>
            <a:endParaRPr b="0" i="0" sz="1400" u="none" cap="none" strike="noStrike">
              <a:solidFill>
                <a:schemeClr val="dk1"/>
              </a:solidFill>
              <a:latin typeface="Calibri"/>
              <a:ea typeface="Calibri"/>
              <a:cs typeface="Calibri"/>
              <a:sym typeface="Calibri"/>
            </a:endParaRPr>
          </a:p>
        </p:txBody>
      </p:sp>
      <p:sp>
        <p:nvSpPr>
          <p:cNvPr id="67" name="Google Shape;67;p4"/>
          <p:cNvSpPr/>
          <p:nvPr/>
        </p:nvSpPr>
        <p:spPr>
          <a:xfrm>
            <a:off x="457200" y="4709160"/>
            <a:ext cx="457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Calibri"/>
              <a:buNone/>
            </a:pPr>
            <a:r>
              <a:rPr b="1" i="0" lang="en-US" sz="2200" u="none" cap="none" strike="noStrike">
                <a:solidFill>
                  <a:srgbClr val="1A1A1A"/>
                </a:solidFill>
                <a:latin typeface="Calibri"/>
                <a:ea typeface="Calibri"/>
                <a:cs typeface="Calibri"/>
                <a:sym typeface="Calibri"/>
              </a:rPr>
              <a:t>3.</a:t>
            </a:r>
            <a:endParaRPr b="0" i="0" sz="2200" u="none" cap="none" strike="noStrike">
              <a:solidFill>
                <a:schemeClr val="dk1"/>
              </a:solidFill>
              <a:latin typeface="Calibri"/>
              <a:ea typeface="Calibri"/>
              <a:cs typeface="Calibri"/>
              <a:sym typeface="Calibri"/>
            </a:endParaRPr>
          </a:p>
        </p:txBody>
      </p:sp>
      <p:sp>
        <p:nvSpPr>
          <p:cNvPr id="68" name="Google Shape;68;p4"/>
          <p:cNvSpPr/>
          <p:nvPr/>
        </p:nvSpPr>
        <p:spPr>
          <a:xfrm>
            <a:off x="960120" y="4709160"/>
            <a:ext cx="10698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000"/>
              <a:buFont typeface="Calibri"/>
              <a:buNone/>
            </a:pPr>
            <a:r>
              <a:rPr b="1" lang="en-US" sz="2000">
                <a:solidFill>
                  <a:srgbClr val="1A1A1A"/>
                </a:solidFill>
                <a:latin typeface="Calibri"/>
                <a:ea typeface="Calibri"/>
                <a:cs typeface="Calibri"/>
                <a:sym typeface="Calibri"/>
              </a:rPr>
              <a:t>Benchmarking</a:t>
            </a:r>
            <a:endParaRPr b="0" i="0" sz="2000" u="none" cap="none" strike="noStrike">
              <a:solidFill>
                <a:schemeClr val="dk1"/>
              </a:solidFill>
              <a:latin typeface="Calibri"/>
              <a:ea typeface="Calibri"/>
              <a:cs typeface="Calibri"/>
              <a:sym typeface="Calibri"/>
            </a:endParaRPr>
          </a:p>
        </p:txBody>
      </p:sp>
      <p:sp>
        <p:nvSpPr>
          <p:cNvPr id="69" name="Google Shape;69;p4"/>
          <p:cNvSpPr/>
          <p:nvPr/>
        </p:nvSpPr>
        <p:spPr>
          <a:xfrm>
            <a:off x="960120" y="5212080"/>
            <a:ext cx="106984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400"/>
              <a:buFont typeface="Calibri"/>
              <a:buNone/>
            </a:pPr>
            <a:r>
              <a:rPr lang="en-US">
                <a:solidFill>
                  <a:srgbClr val="6B6F76"/>
                </a:solidFill>
                <a:latin typeface="Calibri"/>
                <a:ea typeface="Calibri"/>
                <a:cs typeface="Calibri"/>
                <a:sym typeface="Calibri"/>
              </a:rPr>
              <a:t>Added skill + knowledge benchmark scripts that record end-to-end latency, phase timings, per-step timings, tool-call success, token/context usage, heuristic accuracy, strict LLM-judge accuracy, and W&amp;B logging.</a:t>
            </a:r>
            <a:endParaRPr b="0" i="0" sz="1400" u="none" cap="none" strike="noStrike">
              <a:solidFill>
                <a:schemeClr val="dk1"/>
              </a:solidFill>
              <a:latin typeface="Calibri"/>
              <a:ea typeface="Calibri"/>
              <a:cs typeface="Calibri"/>
              <a:sym typeface="Calibri"/>
            </a:endParaRPr>
          </a:p>
        </p:txBody>
      </p:sp>
      <p:sp>
        <p:nvSpPr>
          <p:cNvPr id="70" name="Google Shape;70;p4"/>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71" name="Google Shape;71;p4"/>
          <p:cNvSpPr/>
          <p:nvPr/>
        </p:nvSpPr>
        <p:spPr>
          <a:xfrm>
            <a:off x="6245352" y="6537960"/>
            <a:ext cx="5486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4 / 14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6" name="Shape 76"/>
        <p:cNvGrpSpPr/>
        <p:nvPr/>
      </p:nvGrpSpPr>
      <p:grpSpPr>
        <a:xfrm>
          <a:off x="0" y="0"/>
          <a:ext cx="0" cy="0"/>
          <a:chOff x="0" y="0"/>
          <a:chExt cx="0" cy="0"/>
        </a:xfrm>
      </p:grpSpPr>
      <p:sp>
        <p:nvSpPr>
          <p:cNvPr id="77" name="Google Shape;77;p5"/>
          <p:cNvSpPr/>
          <p:nvPr/>
        </p:nvSpPr>
        <p:spPr>
          <a:xfrm>
            <a:off x="457200" y="502920"/>
            <a:ext cx="1127455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Profiling Methodology</a:t>
            </a:r>
            <a:endParaRPr b="0" i="0" sz="3200" u="none" cap="none" strike="noStrike">
              <a:solidFill>
                <a:schemeClr val="dk1"/>
              </a:solidFill>
              <a:latin typeface="Calibri"/>
              <a:ea typeface="Calibri"/>
              <a:cs typeface="Calibri"/>
              <a:sym typeface="Calibri"/>
            </a:endParaRPr>
          </a:p>
        </p:txBody>
      </p:sp>
      <p:cxnSp>
        <p:nvCxnSpPr>
          <p:cNvPr id="78" name="Google Shape;78;p5"/>
          <p:cNvCxnSpPr/>
          <p:nvPr/>
        </p:nvCxnSpPr>
        <p:spPr>
          <a:xfrm>
            <a:off x="457200" y="1188720"/>
            <a:ext cx="11274552" cy="0"/>
          </a:xfrm>
          <a:prstGeom prst="straightConnector1">
            <a:avLst/>
          </a:prstGeom>
          <a:noFill/>
          <a:ln cap="flat" cmpd="sng" w="9525">
            <a:solidFill>
              <a:srgbClr val="D9D9D9"/>
            </a:solidFill>
            <a:prstDash val="solid"/>
            <a:round/>
            <a:headEnd len="sm" w="sm" type="none"/>
            <a:tailEnd len="sm" w="sm" type="none"/>
          </a:ln>
        </p:spPr>
      </p:cxnSp>
      <p:sp>
        <p:nvSpPr>
          <p:cNvPr id="79" name="Google Shape;79;p5"/>
          <p:cNvSpPr/>
          <p:nvPr/>
        </p:nvSpPr>
        <p:spPr>
          <a:xfrm>
            <a:off x="457200" y="13258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Tools used, what you measured, how you ensured measurements are stable.</a:t>
            </a:r>
            <a:endParaRPr b="0" i="0" sz="1000" u="none" cap="none" strike="noStrike">
              <a:solidFill>
                <a:schemeClr val="dk1"/>
              </a:solidFill>
              <a:latin typeface="Calibri"/>
              <a:ea typeface="Calibri"/>
              <a:cs typeface="Calibri"/>
              <a:sym typeface="Calibri"/>
            </a:endParaRPr>
          </a:p>
        </p:txBody>
      </p:sp>
      <p:sp>
        <p:nvSpPr>
          <p:cNvPr id="80" name="Google Shape;80;p5"/>
          <p:cNvSpPr/>
          <p:nvPr/>
        </p:nvSpPr>
        <p:spPr>
          <a:xfrm>
            <a:off x="457200" y="182880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Tools</a:t>
            </a:r>
            <a:endParaRPr b="0" i="0" sz="1600" u="none" cap="none" strike="noStrike">
              <a:solidFill>
                <a:schemeClr val="dk1"/>
              </a:solidFill>
              <a:latin typeface="Calibri"/>
              <a:ea typeface="Calibri"/>
              <a:cs typeface="Calibri"/>
              <a:sym typeface="Calibri"/>
            </a:endParaRPr>
          </a:p>
        </p:txBody>
      </p:sp>
      <p:sp>
        <p:nvSpPr>
          <p:cNvPr id="81" name="Google Shape;81;p5"/>
          <p:cNvSpPr/>
          <p:nvPr/>
        </p:nvSpPr>
        <p:spPr>
          <a:xfrm>
            <a:off x="457200" y="2286000"/>
            <a:ext cx="5486400" cy="3657600"/>
          </a:xfrm>
          <a:prstGeom prst="rect">
            <a:avLst/>
          </a:prstGeom>
          <a:noFill/>
          <a:ln>
            <a:noFill/>
          </a:ln>
        </p:spPr>
        <p:txBody>
          <a:bodyPr anchorCtr="0" anchor="t" bIns="45700" lIns="91425" spcFirstLastPara="1" rIns="91425" wrap="square" tIns="45700">
            <a:noAutofit/>
          </a:bodyPr>
          <a:lstStyle/>
          <a:p>
            <a:pPr indent="-323850" lvl="0" marL="457200" marR="0" rtl="0" algn="l">
              <a:spcBef>
                <a:spcPts val="800"/>
              </a:spcBef>
              <a:spcAft>
                <a:spcPts val="0"/>
              </a:spcAft>
              <a:buClr>
                <a:srgbClr val="1A1A1A"/>
              </a:buClr>
              <a:buSzPts val="1500"/>
              <a:buFont typeface="Calibri"/>
              <a:buChar char="•"/>
            </a:pPr>
            <a:r>
              <a:rPr b="1" lang="en-US" sz="1500">
                <a:solidFill>
                  <a:srgbClr val="1A1A1A"/>
                </a:solidFill>
                <a:latin typeface="Calibri"/>
                <a:ea typeface="Calibri"/>
                <a:cs typeface="Calibri"/>
                <a:sym typeface="Calibri"/>
              </a:rPr>
              <a:t>Our own dashboard (the main focus!) - what the industry people wanted to see</a:t>
            </a:r>
            <a:endParaRPr b="1" sz="1500">
              <a:solidFill>
                <a:srgbClr val="1A1A1A"/>
              </a:solidFill>
              <a:latin typeface="Calibri"/>
              <a:ea typeface="Calibri"/>
              <a:cs typeface="Calibri"/>
              <a:sym typeface="Calibri"/>
            </a:endParaRPr>
          </a:p>
          <a:p>
            <a:pPr indent="-323850" lvl="0" marL="457200" marR="0" rtl="0" algn="l">
              <a:spcBef>
                <a:spcPts val="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Weights &amp; Biases for run-level tracking</a:t>
            </a:r>
            <a:endParaRPr sz="1500">
              <a:solidFill>
                <a:srgbClr val="1A1A1A"/>
              </a:solidFill>
              <a:latin typeface="Calibri"/>
              <a:ea typeface="Calibri"/>
              <a:cs typeface="Calibri"/>
              <a:sym typeface="Calibri"/>
            </a:endParaRPr>
          </a:p>
          <a:p>
            <a:pPr indent="-323850" lvl="0" marL="457200" marR="0" rtl="0" algn="l">
              <a:spcBef>
                <a:spcPts val="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Docker + CouchDB</a:t>
            </a:r>
            <a:endParaRPr sz="1500">
              <a:solidFill>
                <a:srgbClr val="1A1A1A"/>
              </a:solidFill>
              <a:latin typeface="Calibri"/>
              <a:ea typeface="Calibri"/>
              <a:cs typeface="Calibri"/>
              <a:sym typeface="Calibri"/>
            </a:endParaRPr>
          </a:p>
          <a:p>
            <a:pPr indent="-323850" lvl="0" marL="457200" marR="0" rtl="0" algn="l">
              <a:spcBef>
                <a:spcPts val="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Most of our data are stored in the form of JSONL</a:t>
            </a:r>
            <a:endParaRPr sz="1500">
              <a:solidFill>
                <a:srgbClr val="1A1A1A"/>
              </a:solidFill>
              <a:latin typeface="Calibri"/>
              <a:ea typeface="Calibri"/>
              <a:cs typeface="Calibri"/>
              <a:sym typeface="Calibri"/>
            </a:endParaRPr>
          </a:p>
          <a:p>
            <a:pPr indent="-323850" lvl="0" marL="457200" marR="0" rtl="0" algn="l">
              <a:spcBef>
                <a:spcPts val="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Profiling: time.monotonic()</a:t>
            </a:r>
            <a:endParaRPr sz="1500">
              <a:solidFill>
                <a:srgbClr val="1A1A1A"/>
              </a:solidFill>
              <a:latin typeface="Calibri"/>
              <a:ea typeface="Calibri"/>
              <a:cs typeface="Calibri"/>
              <a:sym typeface="Calibri"/>
            </a:endParaRPr>
          </a:p>
        </p:txBody>
      </p:sp>
      <p:sp>
        <p:nvSpPr>
          <p:cNvPr id="82" name="Google Shape;82;p5"/>
          <p:cNvSpPr/>
          <p:nvPr/>
        </p:nvSpPr>
        <p:spPr>
          <a:xfrm>
            <a:off x="5943590" y="1828800"/>
            <a:ext cx="5486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Metrics captured</a:t>
            </a:r>
            <a:endParaRPr b="0" i="0" sz="1600" u="none" cap="none" strike="noStrike">
              <a:solidFill>
                <a:schemeClr val="dk1"/>
              </a:solidFill>
              <a:latin typeface="Calibri"/>
              <a:ea typeface="Calibri"/>
              <a:cs typeface="Calibri"/>
              <a:sym typeface="Calibri"/>
            </a:endParaRPr>
          </a:p>
        </p:txBody>
      </p:sp>
      <p:sp>
        <p:nvSpPr>
          <p:cNvPr id="83" name="Google Shape;83;p5"/>
          <p:cNvSpPr/>
          <p:nvPr/>
        </p:nvSpPr>
        <p:spPr>
          <a:xfrm>
            <a:off x="6015251" y="2240275"/>
            <a:ext cx="5946600" cy="3657600"/>
          </a:xfrm>
          <a:prstGeom prst="rect">
            <a:avLst/>
          </a:prstGeom>
          <a:noFill/>
          <a:ln>
            <a:noFill/>
          </a:ln>
        </p:spPr>
        <p:txBody>
          <a:bodyPr anchorCtr="0" anchor="t" bIns="45700" lIns="91425" spcFirstLastPara="1" rIns="91425" wrap="square" tIns="45700">
            <a:noAutofit/>
          </a:bodyPr>
          <a:lstStyle/>
          <a:p>
            <a:pPr indent="-323850" lvl="0" marL="457200" marR="0" rtl="0" algn="l">
              <a:lnSpc>
                <a:spcPct val="100000"/>
              </a:lnSpc>
              <a:spcBef>
                <a:spcPts val="80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Scenario metadata: scenario_id, scenario_type, scenario_category, scenario_source, question, characteristic_form</a:t>
            </a:r>
            <a:endParaRPr sz="1500">
              <a:solidFill>
                <a:srgbClr val="1A1A1A"/>
              </a:solidFill>
              <a:latin typeface="Calibri"/>
              <a:ea typeface="Calibri"/>
              <a:cs typeface="Calibri"/>
              <a:sym typeface="Calibri"/>
            </a:endParaRPr>
          </a:p>
          <a:p>
            <a:pPr indent="-323850" lvl="0" marL="457200" marR="0" rtl="0" algn="l">
              <a:lnSpc>
                <a:spcPct val="100000"/>
              </a:lnSpc>
              <a:spcBef>
                <a:spcPts val="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Run metadata: model_id, runner_mode (kp vs rag)</a:t>
            </a:r>
            <a:endParaRPr sz="1500">
              <a:solidFill>
                <a:srgbClr val="1A1A1A"/>
              </a:solidFill>
              <a:latin typeface="Calibri"/>
              <a:ea typeface="Calibri"/>
              <a:cs typeface="Calibri"/>
              <a:sym typeface="Calibri"/>
            </a:endParaRPr>
          </a:p>
          <a:p>
            <a:pPr indent="-323850" lvl="0" marL="457200" marR="0" rtl="0" algn="l">
              <a:lnSpc>
                <a:spcPct val="100000"/>
              </a:lnSpc>
              <a:spcBef>
                <a:spcPts val="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Latency (timing): e2e_ms plus phase timings discover_ms, plan_ms, execute_ms, summarize_ms (and phase_ms)</a:t>
            </a:r>
            <a:endParaRPr sz="1500">
              <a:solidFill>
                <a:srgbClr val="1A1A1A"/>
              </a:solidFill>
              <a:latin typeface="Calibri"/>
              <a:ea typeface="Calibri"/>
              <a:cs typeface="Calibri"/>
              <a:sym typeface="Calibri"/>
            </a:endParaRPr>
          </a:p>
          <a:p>
            <a:pPr indent="-323850" lvl="0" marL="457200" marR="0" rtl="0" algn="l">
              <a:lnSpc>
                <a:spcPct val="100000"/>
              </a:lnSpc>
              <a:spcBef>
                <a:spcPts val="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Tooling/steps: plan_steps, history_steps, tool_calls_attempted, tool_calls_succeeded, step_timings_ms</a:t>
            </a:r>
            <a:endParaRPr sz="1500">
              <a:solidFill>
                <a:srgbClr val="1A1A1A"/>
              </a:solidFill>
              <a:latin typeface="Calibri"/>
              <a:ea typeface="Calibri"/>
              <a:cs typeface="Calibri"/>
              <a:sym typeface="Calibri"/>
            </a:endParaRPr>
          </a:p>
          <a:p>
            <a:pPr indent="-323850" lvl="0" marL="457200" marR="0" rtl="0" algn="l">
              <a:lnSpc>
                <a:spcPct val="100000"/>
              </a:lnSpc>
              <a:spcBef>
                <a:spcPts val="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Tokens/context: token_usage, token_total_tokens, token_prompt_tokens, token_completion_tokens, context_peak_prompt_tokens</a:t>
            </a:r>
            <a:endParaRPr sz="1500">
              <a:solidFill>
                <a:srgbClr val="1A1A1A"/>
              </a:solidFill>
              <a:latin typeface="Calibri"/>
              <a:ea typeface="Calibri"/>
              <a:cs typeface="Calibri"/>
              <a:sym typeface="Calibri"/>
            </a:endParaRPr>
          </a:p>
          <a:p>
            <a:pPr indent="-323850" lvl="0" marL="457200" marR="0" rtl="0" algn="l">
              <a:lnSpc>
                <a:spcPct val="100000"/>
              </a:lnSpc>
              <a:spcBef>
                <a:spcPts val="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Accuracy / judge results: accuracy_mode (llm-judge), accuracy_score, accuracy_pass, plus judge details like accuracy_judge_score, accuracy_judge_strict_pass, accuracy_judge_rationale</a:t>
            </a:r>
            <a:endParaRPr sz="1500">
              <a:solidFill>
                <a:srgbClr val="1A1A1A"/>
              </a:solidFill>
              <a:latin typeface="Calibri"/>
              <a:ea typeface="Calibri"/>
              <a:cs typeface="Calibri"/>
              <a:sym typeface="Calibri"/>
            </a:endParaRPr>
          </a:p>
          <a:p>
            <a:pPr indent="-323850" lvl="0" marL="457200" marR="0" rtl="0" algn="l">
              <a:lnSpc>
                <a:spcPct val="100000"/>
              </a:lnSpc>
              <a:spcBef>
                <a:spcPts val="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Output &amp; reliability: candidate_answer, success, error, failed_steps</a:t>
            </a:r>
            <a:endParaRPr sz="1500">
              <a:solidFill>
                <a:srgbClr val="1A1A1A"/>
              </a:solidFill>
              <a:latin typeface="Calibri"/>
              <a:ea typeface="Calibri"/>
              <a:cs typeface="Calibri"/>
              <a:sym typeface="Calibri"/>
            </a:endParaRPr>
          </a:p>
        </p:txBody>
      </p:sp>
      <p:sp>
        <p:nvSpPr>
          <p:cNvPr id="84" name="Google Shape;84;p5"/>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85" name="Google Shape;85;p5"/>
          <p:cNvSpPr/>
          <p:nvPr/>
        </p:nvSpPr>
        <p:spPr>
          <a:xfrm>
            <a:off x="6245352" y="6537960"/>
            <a:ext cx="5486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5 / 14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0" name="Shape 90"/>
        <p:cNvGrpSpPr/>
        <p:nvPr/>
      </p:nvGrpSpPr>
      <p:grpSpPr>
        <a:xfrm>
          <a:off x="0" y="0"/>
          <a:ext cx="0" cy="0"/>
          <a:chOff x="0" y="0"/>
          <a:chExt cx="0" cy="0"/>
        </a:xfrm>
      </p:grpSpPr>
      <p:sp>
        <p:nvSpPr>
          <p:cNvPr id="91" name="Google Shape;91;p6"/>
          <p:cNvSpPr/>
          <p:nvPr/>
        </p:nvSpPr>
        <p:spPr>
          <a:xfrm>
            <a:off x="457200" y="502920"/>
            <a:ext cx="1127455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Results — Headline Numbers</a:t>
            </a:r>
            <a:endParaRPr b="0" i="0" sz="3200" u="none" cap="none" strike="noStrike">
              <a:solidFill>
                <a:schemeClr val="dk1"/>
              </a:solidFill>
              <a:latin typeface="Calibri"/>
              <a:ea typeface="Calibri"/>
              <a:cs typeface="Calibri"/>
              <a:sym typeface="Calibri"/>
            </a:endParaRPr>
          </a:p>
        </p:txBody>
      </p:sp>
      <p:cxnSp>
        <p:nvCxnSpPr>
          <p:cNvPr id="92" name="Google Shape;92;p6"/>
          <p:cNvCxnSpPr/>
          <p:nvPr/>
        </p:nvCxnSpPr>
        <p:spPr>
          <a:xfrm>
            <a:off x="457200" y="1188720"/>
            <a:ext cx="11274552" cy="0"/>
          </a:xfrm>
          <a:prstGeom prst="straightConnector1">
            <a:avLst/>
          </a:prstGeom>
          <a:noFill/>
          <a:ln cap="flat" cmpd="sng" w="9525">
            <a:solidFill>
              <a:srgbClr val="D9D9D9"/>
            </a:solidFill>
            <a:prstDash val="solid"/>
            <a:round/>
            <a:headEnd len="sm" w="sm" type="none"/>
            <a:tailEnd len="sm" w="sm" type="none"/>
          </a:ln>
        </p:spPr>
      </p:cxnSp>
      <p:sp>
        <p:nvSpPr>
          <p:cNvPr id="93" name="Google Shape;93;p6"/>
          <p:cNvSpPr/>
          <p:nvPr/>
        </p:nvSpPr>
        <p:spPr>
          <a:xfrm>
            <a:off x="457200" y="13258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i="1" lang="en-US" sz="1000">
                <a:solidFill>
                  <a:srgbClr val="6B6F76"/>
                </a:solidFill>
                <a:latin typeface="Calibri"/>
                <a:ea typeface="Calibri"/>
                <a:cs typeface="Calibri"/>
                <a:sym typeface="Calibri"/>
              </a:rPr>
              <a:t>This is just the best subsets of all the scenarios sets we have</a:t>
            </a:r>
            <a:endParaRPr b="0" i="0" sz="1000" u="none" cap="none" strike="noStrike">
              <a:solidFill>
                <a:schemeClr val="dk1"/>
              </a:solidFill>
              <a:latin typeface="Calibri"/>
              <a:ea typeface="Calibri"/>
              <a:cs typeface="Calibri"/>
              <a:sym typeface="Calibri"/>
            </a:endParaRPr>
          </a:p>
        </p:txBody>
      </p:sp>
      <p:sp>
        <p:nvSpPr>
          <p:cNvPr id="94" name="Google Shape;94;p6"/>
          <p:cNvSpPr/>
          <p:nvPr/>
        </p:nvSpPr>
        <p:spPr>
          <a:xfrm>
            <a:off x="457200" y="2286000"/>
            <a:ext cx="3858900" cy="1463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5B2A"/>
              </a:buClr>
              <a:buSzPts val="6400"/>
              <a:buFont typeface="Calibri"/>
              <a:buNone/>
            </a:pPr>
            <a:r>
              <a:rPr b="1" lang="en-US" sz="6400">
                <a:solidFill>
                  <a:schemeClr val="accent6"/>
                </a:solidFill>
                <a:latin typeface="Calibri"/>
                <a:ea typeface="Calibri"/>
                <a:cs typeface="Calibri"/>
                <a:sym typeface="Calibri"/>
              </a:rPr>
              <a:t>50% -&gt; 90%</a:t>
            </a:r>
            <a:endParaRPr b="0" i="0" sz="6400" u="none" cap="none" strike="noStrike">
              <a:solidFill>
                <a:schemeClr val="accent6"/>
              </a:solidFill>
              <a:latin typeface="Calibri"/>
              <a:ea typeface="Calibri"/>
              <a:cs typeface="Calibri"/>
              <a:sym typeface="Calibri"/>
            </a:endParaRPr>
          </a:p>
        </p:txBody>
      </p:sp>
      <p:sp>
        <p:nvSpPr>
          <p:cNvPr id="95" name="Google Shape;95;p6"/>
          <p:cNvSpPr/>
          <p:nvPr/>
        </p:nvSpPr>
        <p:spPr>
          <a:xfrm>
            <a:off x="457200" y="3840480"/>
            <a:ext cx="3584448"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600"/>
              <a:buFont typeface="Calibri"/>
              <a:buNone/>
            </a:pPr>
            <a:r>
              <a:rPr b="1" lang="en-US" sz="1600">
                <a:solidFill>
                  <a:srgbClr val="1A1A1A"/>
                </a:solidFill>
                <a:latin typeface="Calibri"/>
                <a:ea typeface="Calibri"/>
                <a:cs typeface="Calibri"/>
                <a:sym typeface="Calibri"/>
              </a:rPr>
              <a:t>Number of test cases passed</a:t>
            </a:r>
            <a:endParaRPr b="0" i="0" sz="1600" u="none" cap="none" strike="noStrike">
              <a:solidFill>
                <a:schemeClr val="dk1"/>
              </a:solidFill>
              <a:latin typeface="Calibri"/>
              <a:ea typeface="Calibri"/>
              <a:cs typeface="Calibri"/>
              <a:sym typeface="Calibri"/>
            </a:endParaRPr>
          </a:p>
        </p:txBody>
      </p:sp>
      <p:sp>
        <p:nvSpPr>
          <p:cNvPr id="96" name="Google Shape;96;p6"/>
          <p:cNvSpPr/>
          <p:nvPr/>
        </p:nvSpPr>
        <p:spPr>
          <a:xfrm>
            <a:off x="457200" y="4251960"/>
            <a:ext cx="3584448"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6F76"/>
              </a:buClr>
              <a:buSzPts val="1200"/>
              <a:buFont typeface="Calibri"/>
              <a:buNone/>
            </a:pPr>
            <a:r>
              <a:rPr b="0" i="1" lang="en-US" sz="1200" u="none" cap="none" strike="noStrike">
                <a:solidFill>
                  <a:srgbClr val="6B6F76"/>
                </a:solidFill>
                <a:latin typeface="Calibri"/>
                <a:ea typeface="Calibri"/>
                <a:cs typeface="Calibri"/>
                <a:sym typeface="Calibri"/>
              </a:rPr>
              <a:t>[baseline RAG → optimized KP]</a:t>
            </a:r>
            <a:endParaRPr b="0" i="0" sz="1200" u="none" cap="none" strike="noStrike">
              <a:solidFill>
                <a:schemeClr val="dk1"/>
              </a:solidFill>
              <a:latin typeface="Calibri"/>
              <a:ea typeface="Calibri"/>
              <a:cs typeface="Calibri"/>
              <a:sym typeface="Calibri"/>
            </a:endParaRPr>
          </a:p>
        </p:txBody>
      </p:sp>
      <p:sp>
        <p:nvSpPr>
          <p:cNvPr id="97" name="Google Shape;97;p6"/>
          <p:cNvSpPr/>
          <p:nvPr/>
        </p:nvSpPr>
        <p:spPr>
          <a:xfrm>
            <a:off x="4590318" y="2331675"/>
            <a:ext cx="3584400" cy="1463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5B2A"/>
              </a:buClr>
              <a:buSzPts val="6400"/>
              <a:buFont typeface="Calibri"/>
              <a:buNone/>
            </a:pPr>
            <a:r>
              <a:rPr b="1" lang="en-US" sz="6400">
                <a:solidFill>
                  <a:srgbClr val="C75B2A"/>
                </a:solidFill>
                <a:latin typeface="Calibri"/>
                <a:ea typeface="Calibri"/>
                <a:cs typeface="Calibri"/>
                <a:sym typeface="Calibri"/>
              </a:rPr>
              <a:t>5-10x</a:t>
            </a:r>
            <a:endParaRPr b="0" i="0" sz="6400" u="none" cap="none" strike="noStrike">
              <a:solidFill>
                <a:srgbClr val="C75B2A"/>
              </a:solidFill>
              <a:latin typeface="Calibri"/>
              <a:ea typeface="Calibri"/>
              <a:cs typeface="Calibri"/>
              <a:sym typeface="Calibri"/>
            </a:endParaRPr>
          </a:p>
        </p:txBody>
      </p:sp>
      <p:sp>
        <p:nvSpPr>
          <p:cNvPr id="98" name="Google Shape;98;p6"/>
          <p:cNvSpPr/>
          <p:nvPr/>
        </p:nvSpPr>
        <p:spPr>
          <a:xfrm>
            <a:off x="4590293" y="3886193"/>
            <a:ext cx="35844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600"/>
              <a:buFont typeface="Calibri"/>
              <a:buNone/>
            </a:pPr>
            <a:r>
              <a:rPr b="1" lang="en-US" sz="1600">
                <a:solidFill>
                  <a:srgbClr val="1A1A1A"/>
                </a:solidFill>
                <a:latin typeface="Calibri"/>
                <a:ea typeface="Calibri"/>
                <a:cs typeface="Calibri"/>
                <a:sym typeface="Calibri"/>
              </a:rPr>
              <a:t>more tokens</a:t>
            </a:r>
            <a:endParaRPr b="0" i="0" sz="1600" u="none" cap="none" strike="noStrike">
              <a:solidFill>
                <a:schemeClr val="dk1"/>
              </a:solidFill>
              <a:latin typeface="Calibri"/>
              <a:ea typeface="Calibri"/>
              <a:cs typeface="Calibri"/>
              <a:sym typeface="Calibri"/>
            </a:endParaRPr>
          </a:p>
        </p:txBody>
      </p:sp>
      <p:sp>
        <p:nvSpPr>
          <p:cNvPr id="99" name="Google Shape;99;p6"/>
          <p:cNvSpPr/>
          <p:nvPr/>
        </p:nvSpPr>
        <p:spPr>
          <a:xfrm>
            <a:off x="4590293" y="4251998"/>
            <a:ext cx="35844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6F76"/>
              </a:buClr>
              <a:buSzPts val="1200"/>
              <a:buFont typeface="Calibri"/>
              <a:buNone/>
            </a:pPr>
            <a:r>
              <a:rPr b="0" i="1" lang="en-US" sz="1200" u="none" cap="none" strike="noStrike">
                <a:solidFill>
                  <a:srgbClr val="6B6F76"/>
                </a:solidFill>
                <a:latin typeface="Calibri"/>
                <a:ea typeface="Calibri"/>
                <a:cs typeface="Calibri"/>
                <a:sym typeface="Calibri"/>
              </a:rPr>
              <a:t>[</a:t>
            </a:r>
            <a:r>
              <a:rPr i="1" lang="en-US" sz="1200">
                <a:solidFill>
                  <a:srgbClr val="6B6F76"/>
                </a:solidFill>
                <a:latin typeface="Calibri"/>
                <a:ea typeface="Calibri"/>
                <a:cs typeface="Calibri"/>
                <a:sym typeface="Calibri"/>
              </a:rPr>
              <a:t>RAG vs KP</a:t>
            </a:r>
            <a:r>
              <a:rPr b="0" i="1" lang="en-US" sz="1200" u="none" cap="none" strike="noStrike">
                <a:solidFill>
                  <a:srgbClr val="6B6F76"/>
                </a:solidFill>
                <a:latin typeface="Calibri"/>
                <a:ea typeface="Calibri"/>
                <a:cs typeface="Calibri"/>
                <a:sym typeface="Calibri"/>
              </a:rPr>
              <a:t>, </a:t>
            </a:r>
            <a:r>
              <a:rPr i="1" lang="en-US" sz="1200">
                <a:solidFill>
                  <a:srgbClr val="6B6F76"/>
                </a:solidFill>
                <a:latin typeface="Calibri"/>
                <a:ea typeface="Calibri"/>
                <a:cs typeface="Calibri"/>
                <a:sym typeface="Calibri"/>
              </a:rPr>
              <a:t>on Llama-4-Maverick</a:t>
            </a:r>
            <a:r>
              <a:rPr b="0" i="1" lang="en-US" sz="1200" u="none" cap="none" strike="noStrike">
                <a:solidFill>
                  <a:srgbClr val="6B6F76"/>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100" name="Google Shape;100;p6"/>
          <p:cNvSpPr/>
          <p:nvPr/>
        </p:nvSpPr>
        <p:spPr>
          <a:xfrm>
            <a:off x="8174736" y="2286000"/>
            <a:ext cx="3584448" cy="1463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5B2A"/>
              </a:buClr>
              <a:buSzPts val="6400"/>
              <a:buFont typeface="Calibri"/>
              <a:buNone/>
            </a:pPr>
            <a:r>
              <a:rPr b="1" lang="en-US" sz="6400">
                <a:solidFill>
                  <a:srgbClr val="C75B2A"/>
                </a:solidFill>
                <a:latin typeface="Calibri"/>
                <a:ea typeface="Calibri"/>
                <a:cs typeface="Calibri"/>
                <a:sym typeface="Calibri"/>
              </a:rPr>
              <a:t>2-10x</a:t>
            </a:r>
            <a:endParaRPr b="0" i="0" sz="6400" u="none" cap="none" strike="noStrike">
              <a:solidFill>
                <a:schemeClr val="dk1"/>
              </a:solidFill>
              <a:latin typeface="Calibri"/>
              <a:ea typeface="Calibri"/>
              <a:cs typeface="Calibri"/>
              <a:sym typeface="Calibri"/>
            </a:endParaRPr>
          </a:p>
        </p:txBody>
      </p:sp>
      <p:sp>
        <p:nvSpPr>
          <p:cNvPr id="101" name="Google Shape;101;p6"/>
          <p:cNvSpPr/>
          <p:nvPr/>
        </p:nvSpPr>
        <p:spPr>
          <a:xfrm>
            <a:off x="8174736" y="3840480"/>
            <a:ext cx="3584448"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600"/>
              <a:buFont typeface="Calibri"/>
              <a:buNone/>
            </a:pPr>
            <a:r>
              <a:rPr b="1" lang="en-US" sz="1600">
                <a:solidFill>
                  <a:srgbClr val="1A1A1A"/>
                </a:solidFill>
                <a:latin typeface="Calibri"/>
                <a:ea typeface="Calibri"/>
                <a:cs typeface="Calibri"/>
                <a:sym typeface="Calibri"/>
              </a:rPr>
              <a:t>inference time</a:t>
            </a:r>
            <a:endParaRPr b="0" i="0" sz="1600" u="none" cap="none" strike="noStrike">
              <a:solidFill>
                <a:schemeClr val="dk1"/>
              </a:solidFill>
              <a:latin typeface="Calibri"/>
              <a:ea typeface="Calibri"/>
              <a:cs typeface="Calibri"/>
              <a:sym typeface="Calibri"/>
            </a:endParaRPr>
          </a:p>
        </p:txBody>
      </p:sp>
      <p:sp>
        <p:nvSpPr>
          <p:cNvPr id="102" name="Google Shape;102;p6"/>
          <p:cNvSpPr/>
          <p:nvPr/>
        </p:nvSpPr>
        <p:spPr>
          <a:xfrm>
            <a:off x="8174736" y="4251960"/>
            <a:ext cx="3584448"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6F76"/>
              </a:buClr>
              <a:buSzPts val="1200"/>
              <a:buFont typeface="Calibri"/>
              <a:buNone/>
            </a:pPr>
            <a:r>
              <a:rPr b="0" i="1" lang="en-US" sz="1200" u="none" cap="none" strike="noStrike">
                <a:solidFill>
                  <a:srgbClr val="6B6F76"/>
                </a:solidFill>
                <a:latin typeface="Calibri"/>
                <a:ea typeface="Calibri"/>
                <a:cs typeface="Calibri"/>
                <a:sym typeface="Calibri"/>
              </a:rPr>
              <a:t>[per </a:t>
            </a:r>
            <a:r>
              <a:rPr i="1" lang="en-US" sz="1200">
                <a:solidFill>
                  <a:srgbClr val="6B6F76"/>
                </a:solidFill>
                <a:latin typeface="Calibri"/>
                <a:ea typeface="Calibri"/>
                <a:cs typeface="Calibri"/>
                <a:sym typeface="Calibri"/>
              </a:rPr>
              <a:t>scenario</a:t>
            </a:r>
            <a:r>
              <a:rPr b="0" i="1" lang="en-US" sz="1200" u="none" cap="none" strike="noStrike">
                <a:solidFill>
                  <a:srgbClr val="6B6F76"/>
                </a:solidFill>
                <a:latin typeface="Calibri"/>
                <a:ea typeface="Calibri"/>
                <a:cs typeface="Calibri"/>
                <a:sym typeface="Calibri"/>
              </a:rPr>
              <a:t>, s → s]</a:t>
            </a:r>
            <a:endParaRPr b="0" i="0" sz="1200" u="none" cap="none" strike="noStrike">
              <a:solidFill>
                <a:schemeClr val="dk1"/>
              </a:solidFill>
              <a:latin typeface="Calibri"/>
              <a:ea typeface="Calibri"/>
              <a:cs typeface="Calibri"/>
              <a:sym typeface="Calibri"/>
            </a:endParaRPr>
          </a:p>
        </p:txBody>
      </p:sp>
      <p:sp>
        <p:nvSpPr>
          <p:cNvPr id="103" name="Google Shape;103;p6"/>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104" name="Google Shape;104;p6"/>
          <p:cNvSpPr/>
          <p:nvPr/>
        </p:nvSpPr>
        <p:spPr>
          <a:xfrm>
            <a:off x="6245352" y="6537960"/>
            <a:ext cx="5486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6 / 14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sp>
        <p:nvSpPr>
          <p:cNvPr id="110" name="Google Shape;110;p7"/>
          <p:cNvSpPr/>
          <p:nvPr/>
        </p:nvSpPr>
        <p:spPr>
          <a:xfrm>
            <a:off x="457200" y="502920"/>
            <a:ext cx="1127455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Results — Before vs. After</a:t>
            </a:r>
            <a:endParaRPr b="0" i="0" sz="3200" u="none" cap="none" strike="noStrike">
              <a:solidFill>
                <a:schemeClr val="dk1"/>
              </a:solidFill>
              <a:latin typeface="Calibri"/>
              <a:ea typeface="Calibri"/>
              <a:cs typeface="Calibri"/>
              <a:sym typeface="Calibri"/>
            </a:endParaRPr>
          </a:p>
        </p:txBody>
      </p:sp>
      <p:cxnSp>
        <p:nvCxnSpPr>
          <p:cNvPr id="111" name="Google Shape;111;p7"/>
          <p:cNvCxnSpPr/>
          <p:nvPr/>
        </p:nvCxnSpPr>
        <p:spPr>
          <a:xfrm>
            <a:off x="457200" y="1188720"/>
            <a:ext cx="11274552" cy="0"/>
          </a:xfrm>
          <a:prstGeom prst="straightConnector1">
            <a:avLst/>
          </a:prstGeom>
          <a:noFill/>
          <a:ln cap="flat" cmpd="sng" w="9525">
            <a:solidFill>
              <a:srgbClr val="D9D9D9"/>
            </a:solidFill>
            <a:prstDash val="solid"/>
            <a:round/>
            <a:headEnd len="sm" w="sm" type="none"/>
            <a:tailEnd len="sm" w="sm" type="none"/>
          </a:ln>
        </p:spPr>
      </p:cxnSp>
      <p:sp>
        <p:nvSpPr>
          <p:cNvPr id="112" name="Google Shape;112;p7"/>
          <p:cNvSpPr/>
          <p:nvPr/>
        </p:nvSpPr>
        <p:spPr>
          <a:xfrm>
            <a:off x="457200" y="13258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i="1" lang="en-US" sz="1000">
                <a:solidFill>
                  <a:srgbClr val="6B6F76"/>
                </a:solidFill>
                <a:latin typeface="Calibri"/>
                <a:ea typeface="Calibri"/>
                <a:cs typeface="Calibri"/>
                <a:sym typeface="Calibri"/>
              </a:rPr>
              <a:t>Chiller Scenarios</a:t>
            </a:r>
            <a:endParaRPr b="0" i="0" sz="1000" u="none" cap="none" strike="noStrike">
              <a:solidFill>
                <a:schemeClr val="dk1"/>
              </a:solidFill>
              <a:latin typeface="Calibri"/>
              <a:ea typeface="Calibri"/>
              <a:cs typeface="Calibri"/>
              <a:sym typeface="Calibri"/>
            </a:endParaRPr>
          </a:p>
        </p:txBody>
      </p:sp>
      <p:sp>
        <p:nvSpPr>
          <p:cNvPr id="113" name="Google Shape;113;p7"/>
          <p:cNvSpPr/>
          <p:nvPr/>
        </p:nvSpPr>
        <p:spPr>
          <a:xfrm>
            <a:off x="7863840" y="1828800"/>
            <a:ext cx="39319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Takeaway</a:t>
            </a:r>
            <a:endParaRPr b="0" i="0" sz="1600" u="none" cap="none" strike="noStrike">
              <a:solidFill>
                <a:schemeClr val="dk1"/>
              </a:solidFill>
              <a:latin typeface="Calibri"/>
              <a:ea typeface="Calibri"/>
              <a:cs typeface="Calibri"/>
              <a:sym typeface="Calibri"/>
            </a:endParaRPr>
          </a:p>
        </p:txBody>
      </p:sp>
      <p:sp>
        <p:nvSpPr>
          <p:cNvPr id="114" name="Google Shape;114;p7"/>
          <p:cNvSpPr/>
          <p:nvPr/>
        </p:nvSpPr>
        <p:spPr>
          <a:xfrm>
            <a:off x="7863840" y="2286000"/>
            <a:ext cx="3931920" cy="3657600"/>
          </a:xfrm>
          <a:prstGeom prst="rect">
            <a:avLst/>
          </a:prstGeom>
          <a:noFill/>
          <a:ln>
            <a:noFill/>
          </a:ln>
        </p:spPr>
        <p:txBody>
          <a:bodyPr anchorCtr="0" anchor="t" bIns="45700" lIns="91425" spcFirstLastPara="1" rIns="91425" wrap="square" tIns="45700">
            <a:noAutofit/>
          </a:bodyPr>
          <a:lstStyle/>
          <a:p>
            <a:pPr indent="-355600" lvl="0" marL="342900" marR="0" rtl="0" algn="l">
              <a:lnSpc>
                <a:spcPct val="100000"/>
              </a:lnSpc>
              <a:spcBef>
                <a:spcPts val="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Knowledge plugin performs significantly better across many benchmarks - with a mean accuracy of 0.917 compared to a mean accuracy of 0.683 using RAG</a:t>
            </a:r>
            <a:endParaRPr b="0" i="0" sz="1500" u="none" cap="none" strike="noStrike">
              <a:solidFill>
                <a:schemeClr val="dk1"/>
              </a:solidFill>
              <a:latin typeface="Calibri"/>
              <a:ea typeface="Calibri"/>
              <a:cs typeface="Calibri"/>
              <a:sym typeface="Calibri"/>
            </a:endParaRPr>
          </a:p>
        </p:txBody>
      </p:sp>
      <p:sp>
        <p:nvSpPr>
          <p:cNvPr id="115" name="Google Shape;115;p7"/>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116" name="Google Shape;116;p7"/>
          <p:cNvSpPr/>
          <p:nvPr/>
        </p:nvSpPr>
        <p:spPr>
          <a:xfrm>
            <a:off x="6245352" y="6537960"/>
            <a:ext cx="5486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7 / 14</a:t>
            </a:r>
            <a:endParaRPr b="0" i="0" sz="1000" u="none" cap="none" strike="noStrike">
              <a:solidFill>
                <a:schemeClr val="dk1"/>
              </a:solidFill>
              <a:latin typeface="Calibri"/>
              <a:ea typeface="Calibri"/>
              <a:cs typeface="Calibri"/>
              <a:sym typeface="Calibri"/>
            </a:endParaRPr>
          </a:p>
        </p:txBody>
      </p:sp>
      <p:pic>
        <p:nvPicPr>
          <p:cNvPr id="117" name="Google Shape;117;p7"/>
          <p:cNvPicPr preferRelativeResize="0"/>
          <p:nvPr/>
        </p:nvPicPr>
        <p:blipFill>
          <a:blip r:embed="rId3">
            <a:alphaModFix/>
          </a:blip>
          <a:stretch>
            <a:fillRect/>
          </a:stretch>
        </p:blipFill>
        <p:spPr>
          <a:xfrm>
            <a:off x="224200" y="2347488"/>
            <a:ext cx="7559040" cy="298596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2" name="Shape 122"/>
        <p:cNvGrpSpPr/>
        <p:nvPr/>
      </p:nvGrpSpPr>
      <p:grpSpPr>
        <a:xfrm>
          <a:off x="0" y="0"/>
          <a:ext cx="0" cy="0"/>
          <a:chOff x="0" y="0"/>
          <a:chExt cx="0" cy="0"/>
        </a:xfrm>
      </p:grpSpPr>
      <p:sp>
        <p:nvSpPr>
          <p:cNvPr id="123" name="Google Shape;123;g3dde1bbe957_1_51"/>
          <p:cNvSpPr/>
          <p:nvPr/>
        </p:nvSpPr>
        <p:spPr>
          <a:xfrm>
            <a:off x="457200" y="502920"/>
            <a:ext cx="11274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Results — Before vs. After</a:t>
            </a:r>
            <a:endParaRPr b="0" i="0" sz="3200" u="none" cap="none" strike="noStrike">
              <a:solidFill>
                <a:schemeClr val="dk1"/>
              </a:solidFill>
              <a:latin typeface="Calibri"/>
              <a:ea typeface="Calibri"/>
              <a:cs typeface="Calibri"/>
              <a:sym typeface="Calibri"/>
            </a:endParaRPr>
          </a:p>
        </p:txBody>
      </p:sp>
      <p:cxnSp>
        <p:nvCxnSpPr>
          <p:cNvPr id="124" name="Google Shape;124;g3dde1bbe957_1_51"/>
          <p:cNvCxnSpPr/>
          <p:nvPr/>
        </p:nvCxnSpPr>
        <p:spPr>
          <a:xfrm>
            <a:off x="457200" y="1188720"/>
            <a:ext cx="11274600" cy="0"/>
          </a:xfrm>
          <a:prstGeom prst="straightConnector1">
            <a:avLst/>
          </a:prstGeom>
          <a:noFill/>
          <a:ln cap="flat" cmpd="sng" w="9525">
            <a:solidFill>
              <a:srgbClr val="D9D9D9"/>
            </a:solidFill>
            <a:prstDash val="solid"/>
            <a:round/>
            <a:headEnd len="sm" w="sm" type="none"/>
            <a:tailEnd len="sm" w="sm" type="none"/>
          </a:ln>
        </p:spPr>
      </p:cxnSp>
      <p:sp>
        <p:nvSpPr>
          <p:cNvPr id="125" name="Google Shape;125;g3dde1bbe957_1_51"/>
          <p:cNvSpPr/>
          <p:nvPr/>
        </p:nvSpPr>
        <p:spPr>
          <a:xfrm>
            <a:off x="7863840" y="1828800"/>
            <a:ext cx="39318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Takeaway</a:t>
            </a:r>
            <a:endParaRPr b="0" i="0" sz="1600" u="none" cap="none" strike="noStrike">
              <a:solidFill>
                <a:schemeClr val="dk1"/>
              </a:solidFill>
              <a:latin typeface="Calibri"/>
              <a:ea typeface="Calibri"/>
              <a:cs typeface="Calibri"/>
              <a:sym typeface="Calibri"/>
            </a:endParaRPr>
          </a:p>
        </p:txBody>
      </p:sp>
      <p:sp>
        <p:nvSpPr>
          <p:cNvPr id="126" name="Google Shape;126;g3dde1bbe957_1_51"/>
          <p:cNvSpPr/>
          <p:nvPr/>
        </p:nvSpPr>
        <p:spPr>
          <a:xfrm>
            <a:off x="7863840" y="2286000"/>
            <a:ext cx="3931800" cy="36576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800"/>
              </a:spcBef>
              <a:spcAft>
                <a:spcPts val="0"/>
              </a:spcAft>
              <a:buClr>
                <a:srgbClr val="1A1A1A"/>
              </a:buClr>
              <a:buSzPts val="1300"/>
              <a:buFont typeface="Calibri"/>
              <a:buChar char="•"/>
            </a:pPr>
            <a:r>
              <a:rPr lang="en-US" sz="1300">
                <a:solidFill>
                  <a:srgbClr val="1A1A1A"/>
                </a:solidFill>
                <a:latin typeface="Calibri"/>
                <a:ea typeface="Calibri"/>
                <a:cs typeface="Calibri"/>
                <a:sym typeface="Calibri"/>
              </a:rPr>
              <a:t>However, knowledge plugin uses 4.5x to 10x more tokens when compared to RAG</a:t>
            </a:r>
            <a:endParaRPr sz="1300">
              <a:solidFill>
                <a:srgbClr val="1A1A1A"/>
              </a:solidFill>
              <a:latin typeface="Calibri"/>
              <a:ea typeface="Calibri"/>
              <a:cs typeface="Calibri"/>
              <a:sym typeface="Calibri"/>
            </a:endParaRPr>
          </a:p>
          <a:p>
            <a:pPr indent="-342900" lvl="0" marL="342900" marR="0" rtl="0" algn="l">
              <a:spcBef>
                <a:spcPts val="800"/>
              </a:spcBef>
              <a:spcAft>
                <a:spcPts val="0"/>
              </a:spcAft>
              <a:buClr>
                <a:srgbClr val="1A1A1A"/>
              </a:buClr>
              <a:buSzPts val="1300"/>
              <a:buFont typeface="Calibri"/>
              <a:buChar char="•"/>
            </a:pPr>
            <a:r>
              <a:rPr lang="en-US" sz="1300">
                <a:solidFill>
                  <a:srgbClr val="1A1A1A"/>
                </a:solidFill>
                <a:latin typeface="Calibri"/>
                <a:ea typeface="Calibri"/>
                <a:cs typeface="Calibri"/>
                <a:sym typeface="Calibri"/>
              </a:rPr>
              <a:t>Knowledge plugin could be construed as a form of inference time scaling.</a:t>
            </a:r>
            <a:endParaRPr sz="1300">
              <a:solidFill>
                <a:srgbClr val="1A1A1A"/>
              </a:solidFill>
              <a:latin typeface="Calibri"/>
              <a:ea typeface="Calibri"/>
              <a:cs typeface="Calibri"/>
              <a:sym typeface="Calibri"/>
            </a:endParaRPr>
          </a:p>
          <a:p>
            <a:pPr indent="-311150" lvl="1" marL="914400" marR="0" rtl="0" algn="l">
              <a:spcBef>
                <a:spcPts val="800"/>
              </a:spcBef>
              <a:spcAft>
                <a:spcPts val="0"/>
              </a:spcAft>
              <a:buClr>
                <a:srgbClr val="1A1A1A"/>
              </a:buClr>
              <a:buSzPts val="1300"/>
              <a:buFont typeface="Calibri"/>
              <a:buChar char="○"/>
            </a:pPr>
            <a:r>
              <a:rPr lang="en-US" sz="1300">
                <a:solidFill>
                  <a:srgbClr val="1A1A1A"/>
                </a:solidFill>
                <a:latin typeface="Calibri"/>
                <a:ea typeface="Calibri"/>
                <a:cs typeface="Calibri"/>
                <a:sym typeface="Calibri"/>
              </a:rPr>
              <a:t>We let the model plan and execute over multiple steps and let it dynamically retrieve relevant maintenance manual snippets per scenario.</a:t>
            </a:r>
            <a:endParaRPr sz="1300">
              <a:solidFill>
                <a:srgbClr val="1A1A1A"/>
              </a:solidFill>
              <a:latin typeface="Calibri"/>
              <a:ea typeface="Calibri"/>
              <a:cs typeface="Calibri"/>
              <a:sym typeface="Calibri"/>
            </a:endParaRPr>
          </a:p>
          <a:p>
            <a:pPr indent="-311150" lvl="1" marL="914400" marR="0" rtl="0" algn="l">
              <a:spcBef>
                <a:spcPts val="800"/>
              </a:spcBef>
              <a:spcAft>
                <a:spcPts val="0"/>
              </a:spcAft>
              <a:buClr>
                <a:srgbClr val="1A1A1A"/>
              </a:buClr>
              <a:buSzPts val="1300"/>
              <a:buFont typeface="Calibri"/>
              <a:buChar char="○"/>
            </a:pPr>
            <a:r>
              <a:rPr lang="en-US" sz="1300">
                <a:solidFill>
                  <a:srgbClr val="1A1A1A"/>
                </a:solidFill>
                <a:latin typeface="Calibri"/>
                <a:ea typeface="Calibri"/>
                <a:cs typeface="Calibri"/>
                <a:sym typeface="Calibri"/>
              </a:rPr>
              <a:t>In comparison, RAG simply does </a:t>
            </a:r>
            <a:r>
              <a:rPr lang="en-US" sz="1300">
                <a:solidFill>
                  <a:srgbClr val="1A1A1A"/>
                </a:solidFill>
                <a:latin typeface="Calibri"/>
                <a:ea typeface="Calibri"/>
                <a:cs typeface="Calibri"/>
                <a:sym typeface="Calibri"/>
              </a:rPr>
              <a:t>retrieval</a:t>
            </a:r>
            <a:r>
              <a:rPr lang="en-US" sz="1300">
                <a:solidFill>
                  <a:srgbClr val="1A1A1A"/>
                </a:solidFill>
                <a:latin typeface="Calibri"/>
                <a:ea typeface="Calibri"/>
                <a:cs typeface="Calibri"/>
                <a:sym typeface="Calibri"/>
              </a:rPr>
              <a:t> as a single step in a plan, and then reasons over the retrieved chunks.</a:t>
            </a:r>
            <a:endParaRPr sz="1300">
              <a:solidFill>
                <a:srgbClr val="1A1A1A"/>
              </a:solidFill>
              <a:latin typeface="Calibri"/>
              <a:ea typeface="Calibri"/>
              <a:cs typeface="Calibri"/>
              <a:sym typeface="Calibri"/>
            </a:endParaRPr>
          </a:p>
        </p:txBody>
      </p:sp>
      <p:sp>
        <p:nvSpPr>
          <p:cNvPr id="127" name="Google Shape;127;g3dde1bbe957_1_51"/>
          <p:cNvSpPr/>
          <p:nvPr/>
        </p:nvSpPr>
        <p:spPr>
          <a:xfrm>
            <a:off x="457200" y="653796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128" name="Google Shape;128;g3dde1bbe957_1_51"/>
          <p:cNvSpPr/>
          <p:nvPr/>
        </p:nvSpPr>
        <p:spPr>
          <a:xfrm>
            <a:off x="6245352" y="6537960"/>
            <a:ext cx="54864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7 / 14</a:t>
            </a:r>
            <a:endParaRPr b="0" i="0" sz="1000" u="none" cap="none" strike="noStrike">
              <a:solidFill>
                <a:schemeClr val="dk1"/>
              </a:solidFill>
              <a:latin typeface="Calibri"/>
              <a:ea typeface="Calibri"/>
              <a:cs typeface="Calibri"/>
              <a:sym typeface="Calibri"/>
            </a:endParaRPr>
          </a:p>
        </p:txBody>
      </p:sp>
      <p:pic>
        <p:nvPicPr>
          <p:cNvPr id="129" name="Google Shape;129;g3dde1bbe957_1_51"/>
          <p:cNvPicPr preferRelativeResize="0"/>
          <p:nvPr/>
        </p:nvPicPr>
        <p:blipFill>
          <a:blip r:embed="rId3">
            <a:alphaModFix/>
          </a:blip>
          <a:stretch>
            <a:fillRect/>
          </a:stretch>
        </p:blipFill>
        <p:spPr>
          <a:xfrm>
            <a:off x="224225" y="2194505"/>
            <a:ext cx="7559040" cy="300811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134" name="Shape 134"/>
        <p:cNvGrpSpPr/>
        <p:nvPr/>
      </p:nvGrpSpPr>
      <p:grpSpPr>
        <a:xfrm>
          <a:off x="0" y="0"/>
          <a:ext cx="0" cy="0"/>
          <a:chOff x="0" y="0"/>
          <a:chExt cx="0" cy="0"/>
        </a:xfrm>
      </p:grpSpPr>
      <p:sp>
        <p:nvSpPr>
          <p:cNvPr id="135" name="Google Shape;135;p8"/>
          <p:cNvSpPr/>
          <p:nvPr/>
        </p:nvSpPr>
        <p:spPr>
          <a:xfrm>
            <a:off x="457200" y="502920"/>
            <a:ext cx="1127455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Profiler Evidence</a:t>
            </a:r>
            <a:endParaRPr b="0" i="0" sz="3200" u="none" cap="none" strike="noStrike">
              <a:solidFill>
                <a:schemeClr val="dk1"/>
              </a:solidFill>
              <a:latin typeface="Calibri"/>
              <a:ea typeface="Calibri"/>
              <a:cs typeface="Calibri"/>
              <a:sym typeface="Calibri"/>
            </a:endParaRPr>
          </a:p>
        </p:txBody>
      </p:sp>
      <p:cxnSp>
        <p:nvCxnSpPr>
          <p:cNvPr id="136" name="Google Shape;136;p8"/>
          <p:cNvCxnSpPr/>
          <p:nvPr/>
        </p:nvCxnSpPr>
        <p:spPr>
          <a:xfrm>
            <a:off x="457200" y="1188720"/>
            <a:ext cx="11274552" cy="0"/>
          </a:xfrm>
          <a:prstGeom prst="straightConnector1">
            <a:avLst/>
          </a:prstGeom>
          <a:noFill/>
          <a:ln cap="flat" cmpd="sng" w="9525">
            <a:solidFill>
              <a:srgbClr val="D9D9D9"/>
            </a:solidFill>
            <a:prstDash val="solid"/>
            <a:round/>
            <a:headEnd len="sm" w="sm" type="none"/>
            <a:tailEnd len="sm" w="sm" type="none"/>
          </a:ln>
        </p:spPr>
      </p:cxnSp>
      <p:sp>
        <p:nvSpPr>
          <p:cNvPr id="137" name="Google Shape;137;p8"/>
          <p:cNvSpPr/>
          <p:nvPr/>
        </p:nvSpPr>
        <p:spPr>
          <a:xfrm>
            <a:off x="457200" y="13258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Insert profiler trace screenshot, GPU timeline, or operator-level breakdown image.</a:t>
            </a:r>
            <a:endParaRPr b="0" i="0" sz="1000" u="none" cap="none" strike="noStrike">
              <a:solidFill>
                <a:schemeClr val="dk1"/>
              </a:solidFill>
              <a:latin typeface="Calibri"/>
              <a:ea typeface="Calibri"/>
              <a:cs typeface="Calibri"/>
              <a:sym typeface="Calibri"/>
            </a:endParaRPr>
          </a:p>
        </p:txBody>
      </p:sp>
      <p:sp>
        <p:nvSpPr>
          <p:cNvPr id="138" name="Google Shape;138;p8"/>
          <p:cNvSpPr/>
          <p:nvPr/>
        </p:nvSpPr>
        <p:spPr>
          <a:xfrm>
            <a:off x="457200" y="1828800"/>
            <a:ext cx="7772400" cy="4114800"/>
          </a:xfrm>
          <a:prstGeom prst="rect">
            <a:avLst/>
          </a:prstGeom>
          <a:solidFill>
            <a:srgbClr val="FFFFFF"/>
          </a:solidFill>
          <a:ln cap="flat" cmpd="sng" w="9525">
            <a:solidFill>
              <a:srgbClr val="D9D9D9"/>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8"/>
          <p:cNvSpPr/>
          <p:nvPr/>
        </p:nvSpPr>
        <p:spPr>
          <a:xfrm>
            <a:off x="457200" y="1828800"/>
            <a:ext cx="7772400" cy="4114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6F76"/>
              </a:buClr>
              <a:buSzPts val="1400"/>
              <a:buFont typeface="Calibri"/>
              <a:buNone/>
            </a:pPr>
            <a:r>
              <a:rPr b="0" i="1" lang="en-US" sz="1400" u="none" cap="none" strike="noStrike">
                <a:solidFill>
                  <a:srgbClr val="6B6F76"/>
                </a:solidFill>
                <a:latin typeface="Calibri"/>
                <a:ea typeface="Calibri"/>
                <a:cs typeface="Calibri"/>
                <a:sym typeface="Calibri"/>
              </a:rPr>
              <a:t>[ Insert profiler trace, Nsight timeline, or torch.profiler chrome trace screenshot here ]</a:t>
            </a:r>
            <a:endParaRPr b="0" i="0" sz="1400" u="none" cap="none" strike="noStrike">
              <a:solidFill>
                <a:schemeClr val="dk1"/>
              </a:solidFill>
              <a:latin typeface="Calibri"/>
              <a:ea typeface="Calibri"/>
              <a:cs typeface="Calibri"/>
              <a:sym typeface="Calibri"/>
            </a:endParaRPr>
          </a:p>
        </p:txBody>
      </p:sp>
      <p:sp>
        <p:nvSpPr>
          <p:cNvPr id="140" name="Google Shape;140;p8"/>
          <p:cNvSpPr/>
          <p:nvPr/>
        </p:nvSpPr>
        <p:spPr>
          <a:xfrm>
            <a:off x="8458200" y="1828800"/>
            <a:ext cx="32919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What to point at</a:t>
            </a:r>
            <a:endParaRPr b="0" i="0" sz="1600" u="none" cap="none" strike="noStrike">
              <a:solidFill>
                <a:schemeClr val="dk1"/>
              </a:solidFill>
              <a:latin typeface="Calibri"/>
              <a:ea typeface="Calibri"/>
              <a:cs typeface="Calibri"/>
              <a:sym typeface="Calibri"/>
            </a:endParaRPr>
          </a:p>
        </p:txBody>
      </p:sp>
      <p:sp>
        <p:nvSpPr>
          <p:cNvPr id="141" name="Google Shape;141;p8"/>
          <p:cNvSpPr/>
          <p:nvPr/>
        </p:nvSpPr>
        <p:spPr>
          <a:xfrm>
            <a:off x="8458200" y="2286000"/>
            <a:ext cx="3291900" cy="36576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A1A1A"/>
              </a:buClr>
              <a:buSzPts val="1300"/>
              <a:buFont typeface="Calibri"/>
              <a:buChar char="•"/>
            </a:pPr>
            <a:r>
              <a:rPr b="0" i="0" lang="en-US" sz="1300" u="none" cap="none" strike="noStrike">
                <a:solidFill>
                  <a:srgbClr val="1A1A1A"/>
                </a:solidFill>
                <a:latin typeface="Calibri"/>
                <a:ea typeface="Calibri"/>
                <a:cs typeface="Calibri"/>
                <a:sym typeface="Calibri"/>
              </a:rPr>
              <a:t>Bottleneck before optimization</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1A1A1A"/>
              </a:buClr>
              <a:buSzPts val="1300"/>
              <a:buFont typeface="Calibri"/>
              <a:buChar char="•"/>
            </a:pPr>
            <a:r>
              <a:rPr b="0" i="0" lang="en-US" sz="1300" u="none" cap="none" strike="noStrike">
                <a:solidFill>
                  <a:srgbClr val="1A1A1A"/>
                </a:solidFill>
                <a:latin typeface="Calibri"/>
                <a:ea typeface="Calibri"/>
                <a:cs typeface="Calibri"/>
                <a:sym typeface="Calibri"/>
              </a:rPr>
              <a:t>Kernel that disappeared / fused</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1A1A1A"/>
              </a:buClr>
              <a:buSzPts val="1300"/>
              <a:buFont typeface="Calibri"/>
              <a:buChar char="•"/>
            </a:pPr>
            <a:r>
              <a:rPr b="0" i="0" lang="en-US" sz="1300" u="none" cap="none" strike="noStrike">
                <a:solidFill>
                  <a:srgbClr val="1A1A1A"/>
                </a:solidFill>
                <a:latin typeface="Calibri"/>
                <a:ea typeface="Calibri"/>
                <a:cs typeface="Calibri"/>
                <a:sym typeface="Calibri"/>
              </a:rPr>
              <a:t>Idle gap that shrank</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1A1A1A"/>
              </a:buClr>
              <a:buSzPts val="1300"/>
              <a:buFont typeface="Calibri"/>
              <a:buChar char="•"/>
            </a:pPr>
            <a:r>
              <a:rPr b="0" i="0" lang="en-US" sz="1300" u="none" cap="none" strike="noStrike">
                <a:solidFill>
                  <a:srgbClr val="1A1A1A"/>
                </a:solidFill>
                <a:latin typeface="Calibri"/>
                <a:ea typeface="Calibri"/>
                <a:cs typeface="Calibri"/>
                <a:sym typeface="Calibri"/>
              </a:rPr>
              <a:t>Memory copy avoided</a:t>
            </a:r>
            <a:endParaRPr b="0" i="0" sz="1300" u="none" cap="none" strike="noStrike">
              <a:solidFill>
                <a:schemeClr val="dk1"/>
              </a:solidFill>
              <a:latin typeface="Calibri"/>
              <a:ea typeface="Calibri"/>
              <a:cs typeface="Calibri"/>
              <a:sym typeface="Calibri"/>
            </a:endParaRPr>
          </a:p>
        </p:txBody>
      </p:sp>
      <p:sp>
        <p:nvSpPr>
          <p:cNvPr id="142" name="Google Shape;142;p8"/>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143" name="Google Shape;143;p8"/>
          <p:cNvSpPr/>
          <p:nvPr/>
        </p:nvSpPr>
        <p:spPr>
          <a:xfrm>
            <a:off x="6245352" y="6537960"/>
            <a:ext cx="5486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8 / 14</a:t>
            </a:r>
            <a:endParaRPr b="0" i="0" sz="1000" u="none" cap="none" strike="noStrike">
              <a:solidFill>
                <a:schemeClr val="dk1"/>
              </a:solidFill>
              <a:latin typeface="Calibri"/>
              <a:ea typeface="Calibri"/>
              <a:cs typeface="Calibri"/>
              <a:sym typeface="Calibri"/>
            </a:endParaRPr>
          </a:p>
        </p:txBody>
      </p:sp>
      <p:pic>
        <p:nvPicPr>
          <p:cNvPr id="144" name="Google Shape;144;p8" title="Screenshot 2026-05-06 at 10.40.01 PM.png"/>
          <p:cNvPicPr preferRelativeResize="0"/>
          <p:nvPr/>
        </p:nvPicPr>
        <p:blipFill>
          <a:blip r:embed="rId3">
            <a:alphaModFix/>
          </a:blip>
          <a:stretch>
            <a:fillRect/>
          </a:stretch>
        </p:blipFill>
        <p:spPr>
          <a:xfrm>
            <a:off x="457200" y="1805925"/>
            <a:ext cx="7772401" cy="367833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9" name="Shape 149"/>
        <p:cNvGrpSpPr/>
        <p:nvPr/>
      </p:nvGrpSpPr>
      <p:grpSpPr>
        <a:xfrm>
          <a:off x="0" y="0"/>
          <a:ext cx="0" cy="0"/>
          <a:chOff x="0" y="0"/>
          <a:chExt cx="0" cy="0"/>
        </a:xfrm>
      </p:grpSpPr>
      <p:pic>
        <p:nvPicPr>
          <p:cNvPr id="150" name="Google Shape;150;g3dde1bbe957_0_22" title="Screenshot 2026-05-06 at 10.38.24 PM.png"/>
          <p:cNvPicPr preferRelativeResize="0"/>
          <p:nvPr/>
        </p:nvPicPr>
        <p:blipFill>
          <a:blip r:embed="rId3">
            <a:alphaModFix/>
          </a:blip>
          <a:stretch>
            <a:fillRect/>
          </a:stretch>
        </p:blipFill>
        <p:spPr>
          <a:xfrm>
            <a:off x="99475" y="866775"/>
            <a:ext cx="11887198" cy="49437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155" name="Shape 155"/>
        <p:cNvGrpSpPr/>
        <p:nvPr/>
      </p:nvGrpSpPr>
      <p:grpSpPr>
        <a:xfrm>
          <a:off x="0" y="0"/>
          <a:ext cx="0" cy="0"/>
          <a:chOff x="0" y="0"/>
          <a:chExt cx="0" cy="0"/>
        </a:xfrm>
      </p:grpSpPr>
      <p:sp>
        <p:nvSpPr>
          <p:cNvPr id="156" name="Google Shape;156;p9"/>
          <p:cNvSpPr/>
          <p:nvPr/>
        </p:nvSpPr>
        <p:spPr>
          <a:xfrm>
            <a:off x="457200" y="502920"/>
            <a:ext cx="1127455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Demo / Visualization</a:t>
            </a:r>
            <a:endParaRPr b="0" i="0" sz="3200" u="none" cap="none" strike="noStrike">
              <a:solidFill>
                <a:schemeClr val="dk1"/>
              </a:solidFill>
              <a:latin typeface="Calibri"/>
              <a:ea typeface="Calibri"/>
              <a:cs typeface="Calibri"/>
              <a:sym typeface="Calibri"/>
            </a:endParaRPr>
          </a:p>
        </p:txBody>
      </p:sp>
      <p:cxnSp>
        <p:nvCxnSpPr>
          <p:cNvPr id="157" name="Google Shape;157;p9"/>
          <p:cNvCxnSpPr/>
          <p:nvPr/>
        </p:nvCxnSpPr>
        <p:spPr>
          <a:xfrm>
            <a:off x="457200" y="1188720"/>
            <a:ext cx="11274552" cy="0"/>
          </a:xfrm>
          <a:prstGeom prst="straightConnector1">
            <a:avLst/>
          </a:prstGeom>
          <a:noFill/>
          <a:ln cap="flat" cmpd="sng" w="9525">
            <a:solidFill>
              <a:srgbClr val="D9D9D9"/>
            </a:solidFill>
            <a:prstDash val="solid"/>
            <a:round/>
            <a:headEnd len="sm" w="sm" type="none"/>
            <a:tailEnd len="sm" w="sm" type="none"/>
          </a:ln>
        </p:spPr>
      </p:cxnSp>
      <p:sp>
        <p:nvSpPr>
          <p:cNvPr id="158" name="Google Shape;158;p9"/>
          <p:cNvSpPr/>
          <p:nvPr/>
        </p:nvSpPr>
        <p:spPr>
          <a:xfrm>
            <a:off x="457200" y="13258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Time budget: 1 minute. Live demo, animated comparison, or short recorded clip.</a:t>
            </a:r>
            <a:endParaRPr b="0" i="0" sz="1000" u="none" cap="none" strike="noStrike">
              <a:solidFill>
                <a:schemeClr val="dk1"/>
              </a:solidFill>
              <a:latin typeface="Calibri"/>
              <a:ea typeface="Calibri"/>
              <a:cs typeface="Calibri"/>
              <a:sym typeface="Calibri"/>
            </a:endParaRPr>
          </a:p>
        </p:txBody>
      </p:sp>
      <p:sp>
        <p:nvSpPr>
          <p:cNvPr id="159" name="Google Shape;159;p9"/>
          <p:cNvSpPr/>
          <p:nvPr/>
        </p:nvSpPr>
        <p:spPr>
          <a:xfrm>
            <a:off x="457200" y="1828800"/>
            <a:ext cx="11274552" cy="4114800"/>
          </a:xfrm>
          <a:prstGeom prst="rect">
            <a:avLst/>
          </a:prstGeom>
          <a:solidFill>
            <a:srgbClr val="FFFFFF"/>
          </a:solidFill>
          <a:ln cap="flat" cmpd="sng" w="9525">
            <a:solidFill>
              <a:srgbClr val="D9D9D9"/>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9"/>
          <p:cNvSpPr/>
          <p:nvPr/>
        </p:nvSpPr>
        <p:spPr>
          <a:xfrm>
            <a:off x="457200" y="2103120"/>
            <a:ext cx="11274552"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6F76"/>
              </a:buClr>
              <a:buSzPts val="2200"/>
              <a:buFont typeface="Calibri"/>
              <a:buNone/>
            </a:pPr>
            <a:r>
              <a:rPr b="1" i="0" lang="en-US" sz="2200" u="none" cap="none" strike="noStrike">
                <a:solidFill>
                  <a:srgbClr val="6B6F76"/>
                </a:solidFill>
                <a:latin typeface="Calibri"/>
                <a:ea typeface="Calibri"/>
                <a:cs typeface="Calibri"/>
                <a:sym typeface="Calibri"/>
              </a:rPr>
              <a:t>[ Demo / GIF / Screen recording / Live notebook ]</a:t>
            </a:r>
            <a:endParaRPr b="0" i="0" sz="2200" u="none" cap="none" strike="noStrike">
              <a:solidFill>
                <a:schemeClr val="dk1"/>
              </a:solidFill>
              <a:latin typeface="Calibri"/>
              <a:ea typeface="Calibri"/>
              <a:cs typeface="Calibri"/>
              <a:sym typeface="Calibri"/>
            </a:endParaRPr>
          </a:p>
        </p:txBody>
      </p:sp>
      <p:sp>
        <p:nvSpPr>
          <p:cNvPr id="161" name="Google Shape;161;p9"/>
          <p:cNvSpPr/>
          <p:nvPr/>
        </p:nvSpPr>
        <p:spPr>
          <a:xfrm>
            <a:off x="2286000" y="3291840"/>
            <a:ext cx="7616952" cy="22860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6B6F76"/>
              </a:buClr>
              <a:buSzPts val="1400"/>
              <a:buFont typeface="Calibri"/>
              <a:buChar char="•"/>
            </a:pPr>
            <a:r>
              <a:rPr b="0" i="1" lang="en-US" sz="1400" u="none" cap="none" strike="noStrike">
                <a:solidFill>
                  <a:srgbClr val="6B6F76"/>
                </a:solidFill>
                <a:latin typeface="Calibri"/>
                <a:ea typeface="Calibri"/>
                <a:cs typeface="Calibri"/>
                <a:sym typeface="Calibri"/>
              </a:rPr>
              <a:t>Have a fallback static image in case live demo fails</a:t>
            </a:r>
            <a:endParaRPr b="0" i="0" sz="14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6B6F76"/>
              </a:buClr>
              <a:buSzPts val="1400"/>
              <a:buFont typeface="Calibri"/>
              <a:buChar char="•"/>
            </a:pPr>
            <a:r>
              <a:rPr b="0" i="1" lang="en-US" sz="1400" u="none" cap="none" strike="noStrike">
                <a:solidFill>
                  <a:srgbClr val="6B6F76"/>
                </a:solidFill>
                <a:latin typeface="Calibri"/>
                <a:ea typeface="Calibri"/>
                <a:cs typeface="Calibri"/>
                <a:sym typeface="Calibri"/>
              </a:rPr>
              <a:t>Pre-load any models or data — do not wait for downloads on stage</a:t>
            </a:r>
            <a:endParaRPr b="0" i="0" sz="14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6B6F76"/>
              </a:buClr>
              <a:buSzPts val="1400"/>
              <a:buFont typeface="Calibri"/>
              <a:buChar char="•"/>
            </a:pPr>
            <a:r>
              <a:rPr b="0" i="1" lang="en-US" sz="1400" u="none" cap="none" strike="noStrike">
                <a:solidFill>
                  <a:srgbClr val="6B6F76"/>
                </a:solidFill>
                <a:latin typeface="Calibri"/>
                <a:ea typeface="Calibri"/>
                <a:cs typeface="Calibri"/>
                <a:sym typeface="Calibri"/>
              </a:rPr>
              <a:t>Narrate what to look at while it runs</a:t>
            </a:r>
            <a:endParaRPr b="0" i="0" sz="1400" u="none" cap="none" strike="noStrike">
              <a:solidFill>
                <a:schemeClr val="dk1"/>
              </a:solidFill>
              <a:latin typeface="Calibri"/>
              <a:ea typeface="Calibri"/>
              <a:cs typeface="Calibri"/>
              <a:sym typeface="Calibri"/>
            </a:endParaRPr>
          </a:p>
        </p:txBody>
      </p:sp>
      <p:sp>
        <p:nvSpPr>
          <p:cNvPr id="162" name="Google Shape;162;p9"/>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163" name="Google Shape;163;p9"/>
          <p:cNvSpPr/>
          <p:nvPr/>
        </p:nvSpPr>
        <p:spPr>
          <a:xfrm>
            <a:off x="6245352" y="6537960"/>
            <a:ext cx="5486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9 / 14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8" name="Shape 168"/>
        <p:cNvGrpSpPr/>
        <p:nvPr/>
      </p:nvGrpSpPr>
      <p:grpSpPr>
        <a:xfrm>
          <a:off x="0" y="0"/>
          <a:ext cx="0" cy="0"/>
          <a:chOff x="0" y="0"/>
          <a:chExt cx="0" cy="0"/>
        </a:xfrm>
      </p:grpSpPr>
      <p:sp>
        <p:nvSpPr>
          <p:cNvPr id="169" name="Google Shape;169;g3ddce992f4e_0_0"/>
          <p:cNvSpPr/>
          <p:nvPr/>
        </p:nvSpPr>
        <p:spPr>
          <a:xfrm>
            <a:off x="457200" y="502920"/>
            <a:ext cx="11274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Demo / Visualization</a:t>
            </a:r>
            <a:endParaRPr b="0" i="0" sz="3200" u="none" cap="none" strike="noStrike">
              <a:solidFill>
                <a:schemeClr val="dk1"/>
              </a:solidFill>
              <a:latin typeface="Calibri"/>
              <a:ea typeface="Calibri"/>
              <a:cs typeface="Calibri"/>
              <a:sym typeface="Calibri"/>
            </a:endParaRPr>
          </a:p>
        </p:txBody>
      </p:sp>
      <p:cxnSp>
        <p:nvCxnSpPr>
          <p:cNvPr id="170" name="Google Shape;170;g3ddce992f4e_0_0"/>
          <p:cNvCxnSpPr/>
          <p:nvPr/>
        </p:nvCxnSpPr>
        <p:spPr>
          <a:xfrm>
            <a:off x="457200" y="1188720"/>
            <a:ext cx="11274600" cy="0"/>
          </a:xfrm>
          <a:prstGeom prst="straightConnector1">
            <a:avLst/>
          </a:prstGeom>
          <a:noFill/>
          <a:ln cap="flat" cmpd="sng" w="9525">
            <a:solidFill>
              <a:srgbClr val="D9D9D9"/>
            </a:solidFill>
            <a:prstDash val="solid"/>
            <a:round/>
            <a:headEnd len="sm" w="sm" type="none"/>
            <a:tailEnd len="sm" w="sm" type="none"/>
          </a:ln>
        </p:spPr>
      </p:cxnSp>
      <p:sp>
        <p:nvSpPr>
          <p:cNvPr id="171" name="Google Shape;171;g3ddce992f4e_0_0"/>
          <p:cNvSpPr/>
          <p:nvPr/>
        </p:nvSpPr>
        <p:spPr>
          <a:xfrm>
            <a:off x="457200" y="1325880"/>
            <a:ext cx="10972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Time budget: 1 minute. Live demo, animated comparison, or short recorded clip.</a:t>
            </a:r>
            <a:endParaRPr b="0" i="0" sz="1000" u="none" cap="none" strike="noStrike">
              <a:solidFill>
                <a:schemeClr val="dk1"/>
              </a:solidFill>
              <a:latin typeface="Calibri"/>
              <a:ea typeface="Calibri"/>
              <a:cs typeface="Calibri"/>
              <a:sym typeface="Calibri"/>
            </a:endParaRPr>
          </a:p>
        </p:txBody>
      </p:sp>
      <p:sp>
        <p:nvSpPr>
          <p:cNvPr id="172" name="Google Shape;172;g3ddce992f4e_0_0"/>
          <p:cNvSpPr/>
          <p:nvPr/>
        </p:nvSpPr>
        <p:spPr>
          <a:xfrm>
            <a:off x="457200" y="653796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173" name="Google Shape;173;g3ddce992f4e_0_0"/>
          <p:cNvSpPr/>
          <p:nvPr/>
        </p:nvSpPr>
        <p:spPr>
          <a:xfrm>
            <a:off x="6245352" y="6537960"/>
            <a:ext cx="54864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9 / 14</a:t>
            </a:r>
            <a:endParaRPr b="0" i="0" sz="1000" u="none" cap="none" strike="noStrike">
              <a:solidFill>
                <a:schemeClr val="dk1"/>
              </a:solidFill>
              <a:latin typeface="Calibri"/>
              <a:ea typeface="Calibri"/>
              <a:cs typeface="Calibri"/>
              <a:sym typeface="Calibri"/>
            </a:endParaRPr>
          </a:p>
        </p:txBody>
      </p:sp>
      <p:pic>
        <p:nvPicPr>
          <p:cNvPr id="174" name="Google Shape;174;g3ddce992f4e_0_0"/>
          <p:cNvPicPr preferRelativeResize="0"/>
          <p:nvPr/>
        </p:nvPicPr>
        <p:blipFill>
          <a:blip r:embed="rId3">
            <a:alphaModFix/>
          </a:blip>
          <a:stretch>
            <a:fillRect/>
          </a:stretch>
        </p:blipFill>
        <p:spPr>
          <a:xfrm>
            <a:off x="233171" y="1664912"/>
            <a:ext cx="6514249" cy="4396874"/>
          </a:xfrm>
          <a:prstGeom prst="rect">
            <a:avLst/>
          </a:prstGeom>
          <a:noFill/>
          <a:ln>
            <a:noFill/>
          </a:ln>
          <a:effectLst>
            <a:outerShdw blurRad="57150" rotWithShape="0" algn="bl" dir="5400000" dist="19050">
              <a:srgbClr val="000000">
                <a:alpha val="50000"/>
              </a:srgbClr>
            </a:outerShdw>
          </a:effectLst>
        </p:spPr>
      </p:pic>
      <p:pic>
        <p:nvPicPr>
          <p:cNvPr id="175" name="Google Shape;175;g3ddce992f4e_0_0"/>
          <p:cNvPicPr preferRelativeResize="0"/>
          <p:nvPr/>
        </p:nvPicPr>
        <p:blipFill>
          <a:blip r:embed="rId4">
            <a:alphaModFix/>
          </a:blip>
          <a:stretch>
            <a:fillRect/>
          </a:stretch>
        </p:blipFill>
        <p:spPr>
          <a:xfrm>
            <a:off x="6245350" y="3623312"/>
            <a:ext cx="5729893" cy="2914650"/>
          </a:xfrm>
          <a:prstGeom prst="rect">
            <a:avLst/>
          </a:prstGeom>
          <a:noFill/>
          <a:ln>
            <a:noFill/>
          </a:ln>
          <a:effectLst>
            <a:outerShdw blurRad="57150" rotWithShape="0" algn="bl" dir="5400000" dist="19050">
              <a:srgbClr val="000000">
                <a:alpha val="50000"/>
              </a:srgbClr>
            </a:outerShdw>
          </a:effectLst>
        </p:spPr>
      </p:pic>
      <p:sp>
        <p:nvSpPr>
          <p:cNvPr id="176" name="Google Shape;176;g3ddce992f4e_0_0"/>
          <p:cNvSpPr txBox="1"/>
          <p:nvPr/>
        </p:nvSpPr>
        <p:spPr>
          <a:xfrm>
            <a:off x="7007350" y="1600075"/>
            <a:ext cx="4841700" cy="183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200"/>
              <a:t>Key Visualization Modules:</a:t>
            </a:r>
            <a:endParaRPr b="1" sz="1200"/>
          </a:p>
          <a:p>
            <a:pPr indent="-304800" lvl="0" marL="457200" rtl="0" algn="l">
              <a:spcBef>
                <a:spcPts val="0"/>
              </a:spcBef>
              <a:spcAft>
                <a:spcPts val="0"/>
              </a:spcAft>
              <a:buSzPts val="1200"/>
              <a:buChar char="●"/>
            </a:pPr>
            <a:r>
              <a:rPr b="1" lang="en-US" sz="1200"/>
              <a:t>Token Usage Tracking</a:t>
            </a:r>
            <a:r>
              <a:rPr lang="en-US" sz="1200"/>
              <a:t>: Monitoring token consumption by LLM phases to optimize resource allocation.</a:t>
            </a:r>
            <a:endParaRPr sz="1200"/>
          </a:p>
          <a:p>
            <a:pPr indent="-304800" lvl="0" marL="457200" rtl="0" algn="l">
              <a:spcBef>
                <a:spcPts val="0"/>
              </a:spcBef>
              <a:spcAft>
                <a:spcPts val="0"/>
              </a:spcAft>
              <a:buSzPts val="1200"/>
              <a:buChar char="●"/>
            </a:pPr>
            <a:r>
              <a:rPr b="1" lang="en-US" sz="1200"/>
              <a:t>Latency Per Tool</a:t>
            </a:r>
            <a:r>
              <a:rPr lang="en-US" sz="1200"/>
              <a:t>: Detailed breakdown of prompt to completion time and tool-specific latency.</a:t>
            </a:r>
            <a:endParaRPr sz="1200"/>
          </a:p>
          <a:p>
            <a:pPr indent="-304800" lvl="0" marL="457200" rtl="0" algn="l">
              <a:spcBef>
                <a:spcPts val="0"/>
              </a:spcBef>
              <a:spcAft>
                <a:spcPts val="0"/>
              </a:spcAft>
              <a:buSzPts val="1200"/>
              <a:buChar char="●"/>
            </a:pPr>
            <a:r>
              <a:rPr b="1" lang="en-US" sz="1200"/>
              <a:t>Scenario Analysis</a:t>
            </a:r>
            <a:r>
              <a:rPr lang="en-US" sz="1200"/>
              <a:t>: Specific breakdowns for tokens and time based on different industrial knowledge scenarios.</a:t>
            </a:r>
            <a:endParaRPr sz="1200"/>
          </a:p>
          <a:p>
            <a:pPr indent="-304800" lvl="0" marL="457200" rtl="0" algn="l">
              <a:spcBef>
                <a:spcPts val="0"/>
              </a:spcBef>
              <a:spcAft>
                <a:spcPts val="0"/>
              </a:spcAft>
              <a:buSzPts val="1200"/>
              <a:buChar char="●"/>
            </a:pPr>
            <a:r>
              <a:rPr b="1" lang="en-US" sz="1200"/>
              <a:t>Interactive Scatter Plots</a:t>
            </a:r>
            <a:r>
              <a:rPr lang="en-US" sz="1200"/>
              <a:t>: Visualizing the relationship between cost and evaluation scores.</a:t>
            </a:r>
            <a:endParaRPr sz="1200"/>
          </a:p>
        </p:txBody>
      </p:sp>
      <p:pic>
        <p:nvPicPr>
          <p:cNvPr id="177" name="Google Shape;177;g3ddce992f4e_0_0"/>
          <p:cNvPicPr preferRelativeResize="0"/>
          <p:nvPr/>
        </p:nvPicPr>
        <p:blipFill>
          <a:blip r:embed="rId5">
            <a:alphaModFix/>
          </a:blip>
          <a:stretch>
            <a:fillRect/>
          </a:stretch>
        </p:blipFill>
        <p:spPr>
          <a:xfrm>
            <a:off x="227075" y="3730149"/>
            <a:ext cx="5946650" cy="2807808"/>
          </a:xfrm>
          <a:prstGeom prst="rect">
            <a:avLst/>
          </a:prstGeom>
          <a:noFill/>
          <a:ln>
            <a:noFill/>
          </a:ln>
          <a:effectLst>
            <a:outerShdw blurRad="57150" rotWithShape="0" algn="bl" dir="5400000" dist="19050">
              <a:srgbClr val="000000">
                <a:alpha val="50000"/>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2" name="Shape 182"/>
        <p:cNvGrpSpPr/>
        <p:nvPr/>
      </p:nvGrpSpPr>
      <p:grpSpPr>
        <a:xfrm>
          <a:off x="0" y="0"/>
          <a:ext cx="0" cy="0"/>
          <a:chOff x="0" y="0"/>
          <a:chExt cx="0" cy="0"/>
        </a:xfrm>
      </p:grpSpPr>
      <p:sp>
        <p:nvSpPr>
          <p:cNvPr id="183" name="Google Shape;183;p10"/>
          <p:cNvSpPr/>
          <p:nvPr/>
        </p:nvSpPr>
        <p:spPr>
          <a:xfrm>
            <a:off x="457200" y="502920"/>
            <a:ext cx="1127455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Lessons Learned</a:t>
            </a:r>
            <a:endParaRPr b="0" i="0" sz="3200" u="none" cap="none" strike="noStrike">
              <a:solidFill>
                <a:schemeClr val="dk1"/>
              </a:solidFill>
              <a:latin typeface="Calibri"/>
              <a:ea typeface="Calibri"/>
              <a:cs typeface="Calibri"/>
              <a:sym typeface="Calibri"/>
            </a:endParaRPr>
          </a:p>
        </p:txBody>
      </p:sp>
      <p:cxnSp>
        <p:nvCxnSpPr>
          <p:cNvPr id="184" name="Google Shape;184;p10"/>
          <p:cNvCxnSpPr/>
          <p:nvPr/>
        </p:nvCxnSpPr>
        <p:spPr>
          <a:xfrm>
            <a:off x="457200" y="1188720"/>
            <a:ext cx="11274552" cy="0"/>
          </a:xfrm>
          <a:prstGeom prst="straightConnector1">
            <a:avLst/>
          </a:prstGeom>
          <a:noFill/>
          <a:ln cap="flat" cmpd="sng" w="9525">
            <a:solidFill>
              <a:srgbClr val="D9D9D9"/>
            </a:solidFill>
            <a:prstDash val="solid"/>
            <a:round/>
            <a:headEnd len="sm" w="sm" type="none"/>
            <a:tailEnd len="sm" w="sm" type="none"/>
          </a:ln>
        </p:spPr>
      </p:cxnSp>
      <p:sp>
        <p:nvSpPr>
          <p:cNvPr id="185" name="Google Shape;185;p10"/>
          <p:cNvSpPr/>
          <p:nvPr/>
        </p:nvSpPr>
        <p:spPr>
          <a:xfrm>
            <a:off x="457200" y="13258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Time budget: 1 minute. What surprised you? What didn't work? Be honest.</a:t>
            </a:r>
            <a:endParaRPr b="0" i="0" sz="1000" u="none" cap="none" strike="noStrike">
              <a:solidFill>
                <a:schemeClr val="dk1"/>
              </a:solidFill>
              <a:latin typeface="Calibri"/>
              <a:ea typeface="Calibri"/>
              <a:cs typeface="Calibri"/>
              <a:sym typeface="Calibri"/>
            </a:endParaRPr>
          </a:p>
        </p:txBody>
      </p:sp>
      <p:sp>
        <p:nvSpPr>
          <p:cNvPr id="186" name="Google Shape;186;p10"/>
          <p:cNvSpPr/>
          <p:nvPr/>
        </p:nvSpPr>
        <p:spPr>
          <a:xfrm>
            <a:off x="457200" y="182880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What worked</a:t>
            </a:r>
            <a:endParaRPr b="0" i="0" sz="1600" u="none" cap="none" strike="noStrike">
              <a:solidFill>
                <a:schemeClr val="dk1"/>
              </a:solidFill>
              <a:latin typeface="Calibri"/>
              <a:ea typeface="Calibri"/>
              <a:cs typeface="Calibri"/>
              <a:sym typeface="Calibri"/>
            </a:endParaRPr>
          </a:p>
        </p:txBody>
      </p:sp>
      <p:sp>
        <p:nvSpPr>
          <p:cNvPr id="187" name="Google Shape;187;p10"/>
          <p:cNvSpPr/>
          <p:nvPr/>
        </p:nvSpPr>
        <p:spPr>
          <a:xfrm>
            <a:off x="457200" y="2286000"/>
            <a:ext cx="5486400" cy="3657600"/>
          </a:xfrm>
          <a:prstGeom prst="rect">
            <a:avLst/>
          </a:prstGeom>
          <a:noFill/>
          <a:ln>
            <a:noFill/>
          </a:ln>
        </p:spPr>
        <p:txBody>
          <a:bodyPr anchorCtr="0" anchor="t" bIns="45700" lIns="91425" spcFirstLastPara="1" rIns="91425" wrap="square" tIns="45700">
            <a:noAutofit/>
          </a:bodyPr>
          <a:lstStyle/>
          <a:p>
            <a:pPr indent="-323850" lvl="0" marL="457200" rtl="0" algn="l">
              <a:lnSpc>
                <a:spcPct val="115000"/>
              </a:lnSpc>
              <a:spcBef>
                <a:spcPts val="80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Successfully built dashboard to compared RAG and KP (Latency, Tooling/steps, Tokens/context)</a:t>
            </a:r>
            <a:endParaRPr sz="1500">
              <a:solidFill>
                <a:srgbClr val="1A1A1A"/>
              </a:solidFill>
              <a:latin typeface="Calibri"/>
              <a:ea typeface="Calibri"/>
              <a:cs typeface="Calibri"/>
              <a:sym typeface="Calibri"/>
            </a:endParaRPr>
          </a:p>
          <a:p>
            <a:pPr indent="-323850" lvl="0" marL="457200" rtl="0" algn="l">
              <a:lnSpc>
                <a:spcPct val="115000"/>
              </a:lnSpc>
              <a:spcBef>
                <a:spcPts val="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Profiling and understanding bottlenecks of the pipeline we built (wandb and dashboard)</a:t>
            </a:r>
            <a:endParaRPr sz="1500">
              <a:solidFill>
                <a:srgbClr val="1A1A1A"/>
              </a:solidFill>
              <a:latin typeface="Calibri"/>
              <a:ea typeface="Calibri"/>
              <a:cs typeface="Calibri"/>
              <a:sym typeface="Calibri"/>
            </a:endParaRPr>
          </a:p>
          <a:p>
            <a:pPr indent="-323850" lvl="0" marL="457200" rtl="0" algn="l">
              <a:lnSpc>
                <a:spcPct val="115000"/>
              </a:lnSpc>
              <a:spcBef>
                <a:spcPts val="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Successfully developed RAG and KP pipelines that have acceptable accuracy</a:t>
            </a:r>
            <a:endParaRPr sz="1500">
              <a:solidFill>
                <a:srgbClr val="1A1A1A"/>
              </a:solidFill>
              <a:latin typeface="Calibri"/>
              <a:ea typeface="Calibri"/>
              <a:cs typeface="Calibri"/>
              <a:sym typeface="Calibri"/>
            </a:endParaRPr>
          </a:p>
          <a:p>
            <a:pPr indent="-323850" lvl="0" marL="457200" rtl="0" algn="l">
              <a:lnSpc>
                <a:spcPct val="115000"/>
              </a:lnSpc>
              <a:spcBef>
                <a:spcPts val="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Developed a skills marketplace prototype that handles pre-defined multi-step operational workflows </a:t>
            </a:r>
            <a:endParaRPr sz="1500">
              <a:solidFill>
                <a:srgbClr val="1A1A1A"/>
              </a:solidFill>
              <a:latin typeface="Calibri"/>
              <a:ea typeface="Calibri"/>
              <a:cs typeface="Calibri"/>
              <a:sym typeface="Calibri"/>
            </a:endParaRPr>
          </a:p>
          <a:p>
            <a:pPr indent="-323850" lvl="0" marL="457200" rtl="0" algn="l">
              <a:lnSpc>
                <a:spcPct val="115000"/>
              </a:lnSpc>
              <a:spcBef>
                <a:spcPts val="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RAG Maverick is consistently fast on HF (mean 8.9s), making it a good default when latency matters.</a:t>
            </a:r>
            <a:endParaRPr sz="1500">
              <a:solidFill>
                <a:srgbClr val="1A1A1A"/>
              </a:solidFill>
              <a:latin typeface="Calibri"/>
              <a:ea typeface="Calibri"/>
              <a:cs typeface="Calibri"/>
              <a:sym typeface="Calibri"/>
            </a:endParaRPr>
          </a:p>
          <a:p>
            <a:pPr indent="-323850" lvl="0" marL="457200" rtl="0" algn="l">
              <a:lnSpc>
                <a:spcPct val="115000"/>
              </a:lnSpc>
              <a:spcBef>
                <a:spcPts val="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KP Maverick reaches high mean accuracy (0.917) with a high pass rate (90%) on the same HF suite size.</a:t>
            </a:r>
            <a:endParaRPr sz="1500">
              <a:solidFill>
                <a:srgbClr val="1A1A1A"/>
              </a:solidFill>
              <a:latin typeface="Calibri"/>
              <a:ea typeface="Calibri"/>
              <a:cs typeface="Calibri"/>
              <a:sym typeface="Calibri"/>
            </a:endParaRPr>
          </a:p>
          <a:p>
            <a:pPr indent="-323850" lvl="0" marL="457200" rtl="0" algn="l">
              <a:lnSpc>
                <a:spcPct val="115000"/>
              </a:lnSpc>
              <a:spcBef>
                <a:spcPts val="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Across the HF iterations, HF3 achieves much higher mean accuracy (0.917) than HF/HF2 (0.70 / 0.683).</a:t>
            </a:r>
            <a:endParaRPr sz="1500">
              <a:solidFill>
                <a:srgbClr val="1A1A1A"/>
              </a:solidFill>
              <a:latin typeface="Calibri"/>
              <a:ea typeface="Calibri"/>
              <a:cs typeface="Calibri"/>
              <a:sym typeface="Calibri"/>
            </a:endParaRPr>
          </a:p>
          <a:p>
            <a:pPr indent="0" lvl="0" marL="0" marR="0" rtl="0" algn="l">
              <a:spcBef>
                <a:spcPts val="800"/>
              </a:spcBef>
              <a:spcAft>
                <a:spcPts val="0"/>
              </a:spcAft>
              <a:buNone/>
            </a:pPr>
            <a:r>
              <a:t/>
            </a:r>
            <a:endParaRPr sz="1500">
              <a:solidFill>
                <a:srgbClr val="1A1A1A"/>
              </a:solidFill>
              <a:latin typeface="Calibri"/>
              <a:ea typeface="Calibri"/>
              <a:cs typeface="Calibri"/>
              <a:sym typeface="Calibri"/>
            </a:endParaRPr>
          </a:p>
        </p:txBody>
      </p:sp>
      <p:sp>
        <p:nvSpPr>
          <p:cNvPr id="188" name="Google Shape;188;p10"/>
          <p:cNvSpPr/>
          <p:nvPr/>
        </p:nvSpPr>
        <p:spPr>
          <a:xfrm>
            <a:off x="6263640" y="182880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What didn't work</a:t>
            </a:r>
            <a:endParaRPr b="0" i="0" sz="1600" u="none" cap="none" strike="noStrike">
              <a:solidFill>
                <a:schemeClr val="dk1"/>
              </a:solidFill>
              <a:latin typeface="Calibri"/>
              <a:ea typeface="Calibri"/>
              <a:cs typeface="Calibri"/>
              <a:sym typeface="Calibri"/>
            </a:endParaRPr>
          </a:p>
        </p:txBody>
      </p:sp>
      <p:sp>
        <p:nvSpPr>
          <p:cNvPr id="189" name="Google Shape;189;p10"/>
          <p:cNvSpPr/>
          <p:nvPr/>
        </p:nvSpPr>
        <p:spPr>
          <a:xfrm>
            <a:off x="6263640" y="2286000"/>
            <a:ext cx="5486400" cy="3657600"/>
          </a:xfrm>
          <a:prstGeom prst="rect">
            <a:avLst/>
          </a:prstGeom>
          <a:noFill/>
          <a:ln>
            <a:noFill/>
          </a:ln>
        </p:spPr>
        <p:txBody>
          <a:bodyPr anchorCtr="0" anchor="t" bIns="45700" lIns="91425" spcFirstLastPara="1" rIns="91425" wrap="square" tIns="45700">
            <a:noAutofit/>
          </a:bodyPr>
          <a:lstStyle/>
          <a:p>
            <a:pPr indent="-323850" lvl="0" marL="457200" marR="0" rtl="0" algn="l">
              <a:lnSpc>
                <a:spcPct val="115000"/>
              </a:lnSpc>
              <a:spcBef>
                <a:spcPts val="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Accuracy - latency </a:t>
            </a:r>
            <a:r>
              <a:rPr lang="en-US" sz="1500">
                <a:solidFill>
                  <a:srgbClr val="1A1A1A"/>
                </a:solidFill>
                <a:latin typeface="Calibri"/>
                <a:ea typeface="Calibri"/>
                <a:cs typeface="Calibri"/>
                <a:sym typeface="Calibri"/>
              </a:rPr>
              <a:t>trade off</a:t>
            </a:r>
            <a:r>
              <a:rPr lang="en-US" sz="1500">
                <a:solidFill>
                  <a:srgbClr val="1A1A1A"/>
                </a:solidFill>
                <a:latin typeface="Calibri"/>
                <a:ea typeface="Calibri"/>
                <a:cs typeface="Calibri"/>
                <a:sym typeface="Calibri"/>
              </a:rPr>
              <a:t>: HF3’s higher accuracy (0.917) comes with much higher mean end-to-end (e2e) (114s) versus HF/HF2 (20–22s).</a:t>
            </a:r>
            <a:endParaRPr sz="1500">
              <a:solidFill>
                <a:srgbClr val="1A1A1A"/>
              </a:solidFill>
              <a:latin typeface="Calibri"/>
              <a:ea typeface="Calibri"/>
              <a:cs typeface="Calibri"/>
              <a:sym typeface="Calibri"/>
            </a:endParaRPr>
          </a:p>
          <a:p>
            <a:pPr indent="-323850" lvl="0" marL="457200" marR="0" rtl="0" algn="l">
              <a:lnSpc>
                <a:spcPct val="115000"/>
              </a:lnSpc>
              <a:spcBef>
                <a:spcPts val="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Official KP is very slow: KP Maverick mean e2e at 146s vs RAG Maverick 8.9s (even though KP is more accurate on average).</a:t>
            </a:r>
            <a:endParaRPr sz="1500">
              <a:solidFill>
                <a:srgbClr val="1A1A1A"/>
              </a:solidFill>
              <a:latin typeface="Calibri"/>
              <a:ea typeface="Calibri"/>
              <a:cs typeface="Calibri"/>
              <a:sym typeface="Calibri"/>
            </a:endParaRPr>
          </a:p>
          <a:p>
            <a:pPr indent="-323850" lvl="0" marL="457200" marR="0" rtl="0" algn="l">
              <a:lnSpc>
                <a:spcPct val="115000"/>
              </a:lnSpc>
              <a:spcBef>
                <a:spcPts val="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KP time is not just overhead: in the official KP run, mean execute time is 113s out of 146s, so the main cost is long tool execution/tool chains.</a:t>
            </a:r>
            <a:endParaRPr sz="1500">
              <a:solidFill>
                <a:srgbClr val="1A1A1A"/>
              </a:solidFill>
              <a:latin typeface="Calibri"/>
              <a:ea typeface="Calibri"/>
              <a:cs typeface="Calibri"/>
              <a:sym typeface="Calibri"/>
            </a:endParaRPr>
          </a:p>
          <a:p>
            <a:pPr indent="-323850" lvl="0" marL="457200" marR="0" rtl="0" algn="l">
              <a:lnSpc>
                <a:spcPct val="115000"/>
              </a:lnSpc>
              <a:spcBef>
                <a:spcPts val="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Official RAG Maverick mean accuracy is 0.683 with pass rate 50%, which may be insufficient if your target is “90%”.</a:t>
            </a:r>
            <a:endParaRPr sz="1050">
              <a:solidFill>
                <a:srgbClr val="FFFFFF"/>
              </a:solidFill>
              <a:highlight>
                <a:srgbClr val="181818"/>
              </a:highlight>
            </a:endParaRPr>
          </a:p>
        </p:txBody>
      </p:sp>
      <p:sp>
        <p:nvSpPr>
          <p:cNvPr id="190" name="Google Shape;190;p10"/>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191" name="Google Shape;191;p10"/>
          <p:cNvSpPr/>
          <p:nvPr/>
        </p:nvSpPr>
        <p:spPr>
          <a:xfrm>
            <a:off x="6245352" y="6537960"/>
            <a:ext cx="5486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10 / 14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6" name="Shape 196"/>
        <p:cNvGrpSpPr/>
        <p:nvPr/>
      </p:nvGrpSpPr>
      <p:grpSpPr>
        <a:xfrm>
          <a:off x="0" y="0"/>
          <a:ext cx="0" cy="0"/>
          <a:chOff x="0" y="0"/>
          <a:chExt cx="0" cy="0"/>
        </a:xfrm>
      </p:grpSpPr>
      <p:sp>
        <p:nvSpPr>
          <p:cNvPr id="197" name="Google Shape;197;p11"/>
          <p:cNvSpPr/>
          <p:nvPr/>
        </p:nvSpPr>
        <p:spPr>
          <a:xfrm>
            <a:off x="457200" y="502920"/>
            <a:ext cx="1127455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Next Steps</a:t>
            </a:r>
            <a:endParaRPr b="0" i="0" sz="3200" u="none" cap="none" strike="noStrike">
              <a:solidFill>
                <a:schemeClr val="dk1"/>
              </a:solidFill>
              <a:latin typeface="Calibri"/>
              <a:ea typeface="Calibri"/>
              <a:cs typeface="Calibri"/>
              <a:sym typeface="Calibri"/>
            </a:endParaRPr>
          </a:p>
        </p:txBody>
      </p:sp>
      <p:cxnSp>
        <p:nvCxnSpPr>
          <p:cNvPr id="198" name="Google Shape;198;p11"/>
          <p:cNvCxnSpPr/>
          <p:nvPr/>
        </p:nvCxnSpPr>
        <p:spPr>
          <a:xfrm>
            <a:off x="457200" y="1188720"/>
            <a:ext cx="11274552" cy="0"/>
          </a:xfrm>
          <a:prstGeom prst="straightConnector1">
            <a:avLst/>
          </a:prstGeom>
          <a:noFill/>
          <a:ln cap="flat" cmpd="sng" w="9525">
            <a:solidFill>
              <a:srgbClr val="D9D9D9"/>
            </a:solidFill>
            <a:prstDash val="solid"/>
            <a:round/>
            <a:headEnd len="sm" w="sm" type="none"/>
            <a:tailEnd len="sm" w="sm" type="none"/>
          </a:ln>
        </p:spPr>
      </p:cxnSp>
      <p:sp>
        <p:nvSpPr>
          <p:cNvPr id="199" name="Google Shape;199;p11"/>
          <p:cNvSpPr/>
          <p:nvPr/>
        </p:nvSpPr>
        <p:spPr>
          <a:xfrm>
            <a:off x="457200" y="13258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Time budget: 30 seconds. Be specific — vague "more experiments" is not next steps.</a:t>
            </a:r>
            <a:endParaRPr b="0" i="0" sz="1000" u="none" cap="none" strike="noStrike">
              <a:solidFill>
                <a:schemeClr val="dk1"/>
              </a:solidFill>
              <a:latin typeface="Calibri"/>
              <a:ea typeface="Calibri"/>
              <a:cs typeface="Calibri"/>
              <a:sym typeface="Calibri"/>
            </a:endParaRPr>
          </a:p>
        </p:txBody>
      </p:sp>
      <p:sp>
        <p:nvSpPr>
          <p:cNvPr id="200" name="Google Shape;200;p11"/>
          <p:cNvSpPr/>
          <p:nvPr/>
        </p:nvSpPr>
        <p:spPr>
          <a:xfrm>
            <a:off x="457200" y="2011680"/>
            <a:ext cx="11274552" cy="3657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rgbClr val="1A1A1A"/>
              </a:solidFill>
              <a:latin typeface="Calibri"/>
              <a:ea typeface="Calibri"/>
              <a:cs typeface="Calibri"/>
              <a:sym typeface="Calibri"/>
            </a:endParaRPr>
          </a:p>
          <a:p>
            <a:pPr indent="-342900" lvl="0" marL="457200" rtl="0" algn="l">
              <a:spcBef>
                <a:spcPts val="0"/>
              </a:spcBef>
              <a:spcAft>
                <a:spcPts val="0"/>
              </a:spcAft>
              <a:buClr>
                <a:srgbClr val="1A1A1A"/>
              </a:buClr>
              <a:buSzPts val="1800"/>
              <a:buFont typeface="Calibri"/>
              <a:buChar char="•"/>
            </a:pPr>
            <a:r>
              <a:rPr lang="en-US" sz="1800">
                <a:solidFill>
                  <a:srgbClr val="1A1A1A"/>
                </a:solidFill>
                <a:latin typeface="Calibri"/>
                <a:ea typeface="Calibri"/>
                <a:cs typeface="Calibri"/>
                <a:sym typeface="Calibri"/>
              </a:rPr>
              <a:t>Make KP faster without losing too much accuracy: add caching/short-circuits and cap tool-chain length.</a:t>
            </a:r>
            <a:endParaRPr sz="1800">
              <a:solidFill>
                <a:srgbClr val="1A1A1A"/>
              </a:solidFill>
              <a:latin typeface="Calibri"/>
              <a:ea typeface="Calibri"/>
              <a:cs typeface="Calibri"/>
              <a:sym typeface="Calibri"/>
            </a:endParaRPr>
          </a:p>
          <a:p>
            <a:pPr indent="-342900" lvl="0" marL="457200" rtl="0" algn="l">
              <a:lnSpc>
                <a:spcPct val="115000"/>
              </a:lnSpc>
              <a:spcBef>
                <a:spcPts val="0"/>
              </a:spcBef>
              <a:spcAft>
                <a:spcPts val="0"/>
              </a:spcAft>
              <a:buClr>
                <a:srgbClr val="1A1A1A"/>
              </a:buClr>
              <a:buSzPts val="1800"/>
              <a:buFont typeface="Calibri"/>
              <a:buChar char="•"/>
            </a:pPr>
            <a:r>
              <a:rPr lang="en-US" sz="1800">
                <a:solidFill>
                  <a:srgbClr val="1A1A1A"/>
                </a:solidFill>
                <a:latin typeface="Calibri"/>
                <a:ea typeface="Calibri"/>
                <a:cs typeface="Calibri"/>
                <a:sym typeface="Calibri"/>
              </a:rPr>
              <a:t>Possibly adopt a hybrid policy: use RAG for the fast path and escalate to KP only when needed for accuracy (since KP is slower but higher-accuracy).</a:t>
            </a:r>
            <a:endParaRPr sz="1800">
              <a:solidFill>
                <a:srgbClr val="1A1A1A"/>
              </a:solidFill>
              <a:latin typeface="Calibri"/>
              <a:ea typeface="Calibri"/>
              <a:cs typeface="Calibri"/>
              <a:sym typeface="Calibri"/>
            </a:endParaRPr>
          </a:p>
          <a:p>
            <a:pPr indent="-342900" lvl="0" marL="457200" rtl="0" algn="l">
              <a:lnSpc>
                <a:spcPct val="115000"/>
              </a:lnSpc>
              <a:spcBef>
                <a:spcPts val="0"/>
              </a:spcBef>
              <a:spcAft>
                <a:spcPts val="0"/>
              </a:spcAft>
              <a:buClr>
                <a:srgbClr val="1A1A1A"/>
              </a:buClr>
              <a:buSzPts val="1800"/>
              <a:buFont typeface="Calibri"/>
              <a:buChar char="•"/>
            </a:pPr>
            <a:r>
              <a:rPr lang="en-US" sz="1800">
                <a:solidFill>
                  <a:srgbClr val="1A1A1A"/>
                </a:solidFill>
                <a:latin typeface="Calibri"/>
                <a:ea typeface="Calibri"/>
                <a:cs typeface="Calibri"/>
                <a:sym typeface="Calibri"/>
              </a:rPr>
              <a:t>Should find more data to train (and test) on so that RAG and KP have more data to retrieve and reference.</a:t>
            </a:r>
            <a:endParaRPr sz="1800">
              <a:solidFill>
                <a:srgbClr val="1A1A1A"/>
              </a:solidFill>
              <a:latin typeface="Calibri"/>
              <a:ea typeface="Calibri"/>
              <a:cs typeface="Calibri"/>
              <a:sym typeface="Calibri"/>
            </a:endParaRPr>
          </a:p>
          <a:p>
            <a:pPr indent="-342900" lvl="0" marL="457200" rtl="0" algn="l">
              <a:lnSpc>
                <a:spcPct val="115000"/>
              </a:lnSpc>
              <a:spcBef>
                <a:spcPts val="0"/>
              </a:spcBef>
              <a:spcAft>
                <a:spcPts val="0"/>
              </a:spcAft>
              <a:buClr>
                <a:srgbClr val="1A1A1A"/>
              </a:buClr>
              <a:buSzPts val="1800"/>
              <a:buFont typeface="Calibri"/>
              <a:buChar char="•"/>
            </a:pPr>
            <a:r>
              <a:rPr lang="en-US" sz="1800">
                <a:solidFill>
                  <a:srgbClr val="1A1A1A"/>
                </a:solidFill>
                <a:latin typeface="Calibri"/>
                <a:ea typeface="Calibri"/>
                <a:cs typeface="Calibri"/>
                <a:sym typeface="Calibri"/>
              </a:rPr>
              <a:t>Add additional skills to the skills marketplace based on most commonly used workflows. Potentially build an automated scenario to skill generation pipeline.</a:t>
            </a:r>
            <a:endParaRPr sz="1800">
              <a:solidFill>
                <a:srgbClr val="1A1A1A"/>
              </a:solidFill>
              <a:latin typeface="Calibri"/>
              <a:ea typeface="Calibri"/>
              <a:cs typeface="Calibri"/>
              <a:sym typeface="Calibri"/>
            </a:endParaRPr>
          </a:p>
        </p:txBody>
      </p:sp>
      <p:sp>
        <p:nvSpPr>
          <p:cNvPr id="201" name="Google Shape;201;p11"/>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202" name="Google Shape;202;p11"/>
          <p:cNvSpPr/>
          <p:nvPr/>
        </p:nvSpPr>
        <p:spPr>
          <a:xfrm>
            <a:off x="6245352" y="6537960"/>
            <a:ext cx="5486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11 / 14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7" name="Shape 207"/>
        <p:cNvGrpSpPr/>
        <p:nvPr/>
      </p:nvGrpSpPr>
      <p:grpSpPr>
        <a:xfrm>
          <a:off x="0" y="0"/>
          <a:ext cx="0" cy="0"/>
          <a:chOff x="0" y="0"/>
          <a:chExt cx="0" cy="0"/>
        </a:xfrm>
      </p:grpSpPr>
      <p:sp>
        <p:nvSpPr>
          <p:cNvPr id="208" name="Google Shape;208;p12"/>
          <p:cNvSpPr/>
          <p:nvPr/>
        </p:nvSpPr>
        <p:spPr>
          <a:xfrm>
            <a:off x="457200" y="502920"/>
            <a:ext cx="1127455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Teamwork &amp; Contributions</a:t>
            </a:r>
            <a:endParaRPr b="0" i="0" sz="3200" u="none" cap="none" strike="noStrike">
              <a:solidFill>
                <a:schemeClr val="dk1"/>
              </a:solidFill>
              <a:latin typeface="Calibri"/>
              <a:ea typeface="Calibri"/>
              <a:cs typeface="Calibri"/>
              <a:sym typeface="Calibri"/>
            </a:endParaRPr>
          </a:p>
        </p:txBody>
      </p:sp>
      <p:cxnSp>
        <p:nvCxnSpPr>
          <p:cNvPr id="209" name="Google Shape;209;p12"/>
          <p:cNvCxnSpPr/>
          <p:nvPr/>
        </p:nvCxnSpPr>
        <p:spPr>
          <a:xfrm>
            <a:off x="457200" y="1188720"/>
            <a:ext cx="11274552" cy="0"/>
          </a:xfrm>
          <a:prstGeom prst="straightConnector1">
            <a:avLst/>
          </a:prstGeom>
          <a:noFill/>
          <a:ln cap="flat" cmpd="sng" w="9525">
            <a:solidFill>
              <a:srgbClr val="D9D9D9"/>
            </a:solidFill>
            <a:prstDash val="solid"/>
            <a:round/>
            <a:headEnd len="sm" w="sm" type="none"/>
            <a:tailEnd len="sm" w="sm" type="none"/>
          </a:ln>
        </p:spPr>
      </p:cxnSp>
      <p:sp>
        <p:nvSpPr>
          <p:cNvPr id="210" name="Google Shape;210;p12"/>
          <p:cNvSpPr/>
          <p:nvPr/>
        </p:nvSpPr>
        <p:spPr>
          <a:xfrm>
            <a:off x="457200" y="13258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Time budget: 30 seconds. Who did what. Required slide — graded individually.</a:t>
            </a:r>
            <a:endParaRPr b="0" i="0" sz="1000" u="none" cap="none" strike="noStrike">
              <a:solidFill>
                <a:schemeClr val="dk1"/>
              </a:solidFill>
              <a:latin typeface="Calibri"/>
              <a:ea typeface="Calibri"/>
              <a:cs typeface="Calibri"/>
              <a:sym typeface="Calibri"/>
            </a:endParaRPr>
          </a:p>
        </p:txBody>
      </p:sp>
      <p:graphicFrame>
        <p:nvGraphicFramePr>
          <p:cNvPr id="211" name="Google Shape;211;p12"/>
          <p:cNvGraphicFramePr/>
          <p:nvPr/>
        </p:nvGraphicFramePr>
        <p:xfrm>
          <a:off x="457200" y="1828800"/>
          <a:ext cx="3000000" cy="3000000"/>
        </p:xfrm>
        <a:graphic>
          <a:graphicData uri="http://schemas.openxmlformats.org/drawingml/2006/table">
            <a:tbl>
              <a:tblPr>
                <a:noFill/>
                <a:tableStyleId>{744F08F5-394F-45FC-B09F-C6E03F6852BC}</a:tableStyleId>
              </a:tblPr>
              <a:tblGrid>
                <a:gridCol w="2011675"/>
                <a:gridCol w="5029200"/>
                <a:gridCol w="4233675"/>
              </a:tblGrid>
              <a:tr h="640075">
                <a:tc>
                  <a:txBody>
                    <a:bodyPr/>
                    <a:lstStyle/>
                    <a:p>
                      <a:pPr indent="0" lvl="0" marL="0" marR="0" rtl="0" algn="l">
                        <a:spcBef>
                          <a:spcPts val="0"/>
                        </a:spcBef>
                        <a:spcAft>
                          <a:spcPts val="0"/>
                        </a:spcAft>
                        <a:buClr>
                          <a:srgbClr val="1A1A1A"/>
                        </a:buClr>
                        <a:buSzPts val="1300"/>
                        <a:buFont typeface="Calibri"/>
                        <a:buNone/>
                      </a:pPr>
                      <a:r>
                        <a:rPr b="1" lang="en-US" sz="1300" u="none" cap="none" strike="noStrike">
                          <a:solidFill>
                            <a:srgbClr val="1A1A1A"/>
                          </a:solidFill>
                          <a:latin typeface="Calibri"/>
                          <a:ea typeface="Calibri"/>
                          <a:cs typeface="Calibri"/>
                          <a:sym typeface="Calibri"/>
                        </a:rPr>
                        <a:t>Member</a:t>
                      </a:r>
                      <a:endParaRPr sz="13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Clr>
                          <a:srgbClr val="1A1A1A"/>
                        </a:buClr>
                        <a:buSzPts val="1300"/>
                        <a:buFont typeface="Calibri"/>
                        <a:buNone/>
                      </a:pPr>
                      <a:r>
                        <a:rPr b="1" lang="en-US" sz="1300" u="none" cap="none" strike="noStrike">
                          <a:solidFill>
                            <a:srgbClr val="1A1A1A"/>
                          </a:solidFill>
                          <a:latin typeface="Calibri"/>
                          <a:ea typeface="Calibri"/>
                          <a:cs typeface="Calibri"/>
                          <a:sym typeface="Calibri"/>
                        </a:rPr>
                        <a:t>Primary contributions</a:t>
                      </a:r>
                      <a:endParaRPr sz="13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Clr>
                          <a:srgbClr val="1A1A1A"/>
                        </a:buClr>
                        <a:buSzPts val="1300"/>
                        <a:buFont typeface="Calibri"/>
                        <a:buNone/>
                      </a:pPr>
                      <a:r>
                        <a:rPr b="1" lang="en-US" sz="1300" u="none" cap="none" strike="noStrike">
                          <a:solidFill>
                            <a:srgbClr val="1A1A1A"/>
                          </a:solidFill>
                          <a:latin typeface="Calibri"/>
                          <a:ea typeface="Calibri"/>
                          <a:cs typeface="Calibri"/>
                          <a:sym typeface="Calibri"/>
                        </a:rPr>
                        <a:t>Tools / artifacts</a:t>
                      </a:r>
                      <a:endParaRPr sz="13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2F2F2"/>
                    </a:solidFill>
                  </a:tcPr>
                </a:tc>
              </a:tr>
              <a:tr h="640075">
                <a:tc>
                  <a:txBody>
                    <a:bodyPr/>
                    <a:lstStyle/>
                    <a:p>
                      <a:pPr indent="0" lvl="0" marL="0" marR="0" rtl="0" algn="l">
                        <a:spcBef>
                          <a:spcPts val="0"/>
                        </a:spcBef>
                        <a:spcAft>
                          <a:spcPts val="0"/>
                        </a:spcAft>
                        <a:buClr>
                          <a:srgbClr val="1A1A1A"/>
                        </a:buClr>
                        <a:buSzPts val="1200"/>
                        <a:buFont typeface="Calibri"/>
                        <a:buNone/>
                      </a:pPr>
                      <a:r>
                        <a:rPr lang="en-US" sz="1200">
                          <a:solidFill>
                            <a:srgbClr val="1A1A1A"/>
                          </a:solidFill>
                          <a:latin typeface="Calibri"/>
                          <a:ea typeface="Calibri"/>
                          <a:cs typeface="Calibri"/>
                          <a:sym typeface="Calibri"/>
                        </a:rPr>
                        <a:t>Andrew Li</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rPr lang="en-US" sz="1200">
                          <a:solidFill>
                            <a:srgbClr val="1A1A1A"/>
                          </a:solidFill>
                          <a:latin typeface="Calibri"/>
                          <a:ea typeface="Calibri"/>
                          <a:cs typeface="Calibri"/>
                          <a:sym typeface="Calibri"/>
                        </a:rPr>
                        <a:t>Benchmarking, dashboard visualizations, bug fixes</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rPr lang="en-US" sz="1200">
                          <a:solidFill>
                            <a:srgbClr val="1A1A1A"/>
                          </a:solidFill>
                          <a:latin typeface="Calibri"/>
                          <a:ea typeface="Calibri"/>
                          <a:cs typeface="Calibri"/>
                          <a:sym typeface="Calibri"/>
                        </a:rPr>
                        <a:t>runs/, dashboards/, a small amount in run_benchmark.py</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640075">
                <a:tc>
                  <a:txBody>
                    <a:bodyPr/>
                    <a:lstStyle/>
                    <a:p>
                      <a:pPr indent="0" lvl="0" marL="0" marR="0" rtl="0" algn="l">
                        <a:spcBef>
                          <a:spcPts val="0"/>
                        </a:spcBef>
                        <a:spcAft>
                          <a:spcPts val="0"/>
                        </a:spcAft>
                        <a:buClr>
                          <a:srgbClr val="1A1A1A"/>
                        </a:buClr>
                        <a:buSzPts val="1200"/>
                        <a:buFont typeface="Calibri"/>
                        <a:buNone/>
                      </a:pPr>
                      <a:r>
                        <a:rPr lang="en-US" sz="1200">
                          <a:solidFill>
                            <a:srgbClr val="1A1A1A"/>
                          </a:solidFill>
                          <a:latin typeface="Calibri"/>
                          <a:ea typeface="Calibri"/>
                          <a:cs typeface="Calibri"/>
                          <a:sym typeface="Calibri"/>
                        </a:rPr>
                        <a:t>Kirthana Natarajan</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rPr lang="en-US" sz="1200">
                          <a:solidFill>
                            <a:srgbClr val="1A1A1A"/>
                          </a:solidFill>
                          <a:latin typeface="Calibri"/>
                          <a:ea typeface="Calibri"/>
                          <a:cs typeface="Calibri"/>
                          <a:sym typeface="Calibri"/>
                        </a:rPr>
                        <a:t>Observability infra, </a:t>
                      </a:r>
                      <a:r>
                        <a:rPr lang="en-US" sz="1200">
                          <a:solidFill>
                            <a:srgbClr val="1A1A1A"/>
                          </a:solidFill>
                          <a:latin typeface="Calibri"/>
                          <a:ea typeface="Calibri"/>
                          <a:cs typeface="Calibri"/>
                          <a:sym typeface="Calibri"/>
                        </a:rPr>
                        <a:t>Baseline, Skills MCP Server</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rPr lang="en-US" sz="1200">
                          <a:solidFill>
                            <a:srgbClr val="1A1A1A"/>
                          </a:solidFill>
                          <a:latin typeface="Calibri"/>
                          <a:ea typeface="Calibri"/>
                          <a:cs typeface="Calibri"/>
                          <a:sym typeface="Calibri"/>
                        </a:rPr>
                        <a:t>src/observability, servers/skills, updates in agents/plan_execute</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640075">
                <a:tc>
                  <a:txBody>
                    <a:bodyPr/>
                    <a:lstStyle/>
                    <a:p>
                      <a:pPr indent="0" lvl="0" marL="0" marR="0" rtl="0" algn="l">
                        <a:spcBef>
                          <a:spcPts val="0"/>
                        </a:spcBef>
                        <a:spcAft>
                          <a:spcPts val="0"/>
                        </a:spcAft>
                        <a:buClr>
                          <a:srgbClr val="1A1A1A"/>
                        </a:buClr>
                        <a:buSzPts val="1200"/>
                        <a:buFont typeface="Calibri"/>
                        <a:buNone/>
                      </a:pPr>
                      <a:r>
                        <a:rPr lang="en-US" sz="1200">
                          <a:solidFill>
                            <a:srgbClr val="1A1A1A"/>
                          </a:solidFill>
                          <a:latin typeface="Calibri"/>
                          <a:ea typeface="Calibri"/>
                          <a:cs typeface="Calibri"/>
                          <a:sym typeface="Calibri"/>
                        </a:rPr>
                        <a:t>Thai On</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rPr lang="en-US" sz="1200">
                          <a:solidFill>
                            <a:srgbClr val="1A1A1A"/>
                          </a:solidFill>
                          <a:latin typeface="Calibri"/>
                          <a:ea typeface="Calibri"/>
                          <a:cs typeface="Calibri"/>
                          <a:sym typeface="Calibri"/>
                        </a:rPr>
                        <a:t>Benchmarking and commands, dashboard refinements</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spcBef>
                          <a:spcPts val="0"/>
                        </a:spcBef>
                        <a:spcAft>
                          <a:spcPts val="0"/>
                        </a:spcAft>
                        <a:buClr>
                          <a:srgbClr val="1A1A1A"/>
                        </a:buClr>
                        <a:buSzPts val="1200"/>
                        <a:buFont typeface="Calibri"/>
                        <a:buNone/>
                      </a:pPr>
                      <a:r>
                        <a:rPr lang="en-US" sz="1200">
                          <a:solidFill>
                            <a:srgbClr val="1A1A1A"/>
                          </a:solidFill>
                          <a:latin typeface="Calibri"/>
                          <a:ea typeface="Calibri"/>
                          <a:cs typeface="Calibri"/>
                          <a:sym typeface="Calibri"/>
                        </a:rPr>
                        <a:t>runs/, dashboards/, </a:t>
                      </a:r>
                      <a:r>
                        <a:rPr lang="en-US" sz="1200">
                          <a:solidFill>
                            <a:srgbClr val="1A1A1A"/>
                          </a:solidFill>
                          <a:uFill>
                            <a:noFill/>
                          </a:uFill>
                          <a:latin typeface="Calibri"/>
                          <a:ea typeface="Calibri"/>
                          <a:cs typeface="Calibri"/>
                          <a:sym typeface="Calibri"/>
                          <a:hlinkClick r:id="rId3">
                            <a:extLst>
                              <a:ext uri="{A12FA001-AC4F-418D-AE19-62706E023703}">
                                <ahyp:hlinkClr val="tx"/>
                              </a:ext>
                            </a:extLst>
                          </a:hlinkClick>
                        </a:rPr>
                        <a:t>run_all_benchmarks.py</a:t>
                      </a:r>
                      <a:r>
                        <a:rPr lang="en-US" sz="1200">
                          <a:solidFill>
                            <a:srgbClr val="1A1A1A"/>
                          </a:solidFill>
                          <a:latin typeface="Calibri"/>
                          <a:ea typeface="Calibri"/>
                          <a:cs typeface="Calibri"/>
                          <a:sym typeface="Calibri"/>
                        </a:rPr>
                        <a:t>, run_benchmark.py, reports</a:t>
                      </a:r>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640075">
                <a:tc>
                  <a:txBody>
                    <a:bodyPr/>
                    <a:lstStyle/>
                    <a:p>
                      <a:pPr indent="0" lvl="0" marL="0" marR="0" rtl="0" algn="l">
                        <a:spcBef>
                          <a:spcPts val="0"/>
                        </a:spcBef>
                        <a:spcAft>
                          <a:spcPts val="0"/>
                        </a:spcAft>
                        <a:buClr>
                          <a:srgbClr val="1A1A1A"/>
                        </a:buClr>
                        <a:buSzPts val="1200"/>
                        <a:buFont typeface="Calibri"/>
                        <a:buNone/>
                      </a:pPr>
                      <a:r>
                        <a:rPr lang="en-US" sz="1200">
                          <a:solidFill>
                            <a:srgbClr val="1A1A1A"/>
                          </a:solidFill>
                          <a:latin typeface="Calibri"/>
                          <a:ea typeface="Calibri"/>
                          <a:cs typeface="Calibri"/>
                          <a:sym typeface="Calibri"/>
                        </a:rPr>
                        <a:t>Trisha Maturi</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rPr lang="en-US" sz="1200">
                          <a:solidFill>
                            <a:srgbClr val="1A1A1A"/>
                          </a:solidFill>
                          <a:latin typeface="Calibri"/>
                          <a:ea typeface="Calibri"/>
                          <a:cs typeface="Calibri"/>
                          <a:sym typeface="Calibri"/>
                        </a:rPr>
                        <a:t>Skills MCP server architecture</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rPr lang="en-US" sz="1200">
                          <a:solidFill>
                            <a:srgbClr val="1A1A1A"/>
                          </a:solidFill>
                          <a:latin typeface="Calibri"/>
                          <a:ea typeface="Calibri"/>
                          <a:cs typeface="Calibri"/>
                          <a:sym typeface="Calibri"/>
                        </a:rPr>
                        <a:t>servers/skills, ‎src/agent/plan_execute/</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640075">
                <a:tc>
                  <a:txBody>
                    <a:bodyPr/>
                    <a:lstStyle/>
                    <a:p>
                      <a:pPr indent="0" lvl="0" marL="0" marR="0" rtl="0" algn="l">
                        <a:spcBef>
                          <a:spcPts val="0"/>
                        </a:spcBef>
                        <a:spcAft>
                          <a:spcPts val="0"/>
                        </a:spcAft>
                        <a:buNone/>
                      </a:pPr>
                      <a:r>
                        <a:rPr lang="en-US" sz="1200">
                          <a:solidFill>
                            <a:srgbClr val="1A1A1A"/>
                          </a:solidFill>
                          <a:latin typeface="Calibri"/>
                          <a:ea typeface="Calibri"/>
                          <a:cs typeface="Calibri"/>
                          <a:sym typeface="Calibri"/>
                        </a:rPr>
                        <a:t>Yeshitha Bhuvanesh</a:t>
                      </a:r>
                      <a:endParaRPr sz="1200" u="none" cap="none" strike="noStrike">
                        <a:solidFill>
                          <a:srgbClr val="1A1A1A"/>
                        </a:solidFill>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None/>
                      </a:pPr>
                      <a:r>
                        <a:rPr lang="en-US" sz="1200">
                          <a:solidFill>
                            <a:srgbClr val="1A1A1A"/>
                          </a:solidFill>
                          <a:latin typeface="Calibri"/>
                          <a:ea typeface="Calibri"/>
                          <a:cs typeface="Calibri"/>
                          <a:sym typeface="Calibri"/>
                        </a:rPr>
                        <a:t>Baseline RAG, Knowledge Plugin</a:t>
                      </a:r>
                      <a:endParaRPr sz="1200" u="none" cap="none" strike="noStrike">
                        <a:solidFill>
                          <a:srgbClr val="1A1A1A"/>
                        </a:solidFill>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None/>
                      </a:pPr>
                      <a:r>
                        <a:rPr lang="en-US" sz="1200">
                          <a:solidFill>
                            <a:srgbClr val="1A1A1A"/>
                          </a:solidFill>
                          <a:latin typeface="Calibri"/>
                          <a:ea typeface="Calibri"/>
                          <a:cs typeface="Calibri"/>
                          <a:sym typeface="Calibri"/>
                        </a:rPr>
                        <a:t>src/agent/plan_execute/rag_runner.py, src/servers/knowledge/, </a:t>
                      </a:r>
                      <a:r>
                        <a:rPr lang="en-US" sz="1200">
                          <a:solidFill>
                            <a:srgbClr val="1A1A1A"/>
                          </a:solidFill>
                          <a:latin typeface="Calibri"/>
                          <a:ea typeface="Calibri"/>
                          <a:cs typeface="Calibri"/>
                          <a:sym typeface="Calibri"/>
                        </a:rPr>
                        <a:t>updates in agents/plan_execute, updates in src/agent/cli.py, updates in src/couchdb/</a:t>
                      </a:r>
                      <a:endParaRPr sz="1200" u="none" cap="none" strike="noStrike">
                        <a:solidFill>
                          <a:srgbClr val="1A1A1A"/>
                        </a:solidFill>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bl>
          </a:graphicData>
        </a:graphic>
      </p:graphicFrame>
      <p:sp>
        <p:nvSpPr>
          <p:cNvPr id="212" name="Google Shape;212;p12"/>
          <p:cNvSpPr/>
          <p:nvPr/>
        </p:nvSpPr>
        <p:spPr>
          <a:xfrm>
            <a:off x="457200" y="5897880"/>
            <a:ext cx="1127455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100"/>
              <a:buFont typeface="Calibri"/>
              <a:buNone/>
            </a:pPr>
            <a:r>
              <a:rPr b="0" i="1" lang="en-US" sz="1100" u="none" cap="none" strike="noStrike">
                <a:solidFill>
                  <a:srgbClr val="6B6F76"/>
                </a:solidFill>
                <a:latin typeface="Calibri"/>
                <a:ea typeface="Calibri"/>
                <a:cs typeface="Calibri"/>
                <a:sym typeface="Calibri"/>
              </a:rPr>
              <a:t>Collaboration: regular</a:t>
            </a:r>
            <a:r>
              <a:rPr i="1" lang="en-US" sz="1100">
                <a:solidFill>
                  <a:srgbClr val="6B6F76"/>
                </a:solidFill>
                <a:latin typeface="Calibri"/>
                <a:ea typeface="Calibri"/>
                <a:cs typeface="Calibri"/>
                <a:sym typeface="Calibri"/>
              </a:rPr>
              <a:t> weekly</a:t>
            </a:r>
            <a:r>
              <a:rPr b="0" i="1" lang="en-US" sz="1100" u="none" cap="none" strike="noStrike">
                <a:solidFill>
                  <a:srgbClr val="6B6F76"/>
                </a:solidFill>
                <a:latin typeface="Calibri"/>
                <a:ea typeface="Calibri"/>
                <a:cs typeface="Calibri"/>
                <a:sym typeface="Calibri"/>
              </a:rPr>
              <a:t> meetings via </a:t>
            </a:r>
            <a:r>
              <a:rPr i="1" lang="en-US" sz="1100">
                <a:solidFill>
                  <a:srgbClr val="6B6F76"/>
                </a:solidFill>
                <a:latin typeface="Calibri"/>
                <a:ea typeface="Calibri"/>
                <a:cs typeface="Calibri"/>
                <a:sym typeface="Calibri"/>
              </a:rPr>
              <a:t>Zoom</a:t>
            </a:r>
            <a:r>
              <a:rPr b="0" i="1" lang="en-US" sz="1100" u="none" cap="none" strike="noStrike">
                <a:solidFill>
                  <a:srgbClr val="6B6F76"/>
                </a:solidFill>
                <a:latin typeface="Calibri"/>
                <a:ea typeface="Calibri"/>
                <a:cs typeface="Calibri"/>
                <a:sym typeface="Calibri"/>
              </a:rPr>
              <a:t>, shared </a:t>
            </a:r>
            <a:r>
              <a:rPr i="1" lang="en-US" sz="1100">
                <a:solidFill>
                  <a:srgbClr val="6B6F76"/>
                </a:solidFill>
                <a:latin typeface="Calibri"/>
                <a:ea typeface="Calibri"/>
                <a:cs typeface="Calibri"/>
                <a:sym typeface="Calibri"/>
              </a:rPr>
              <a:t>WhatsApp group.</a:t>
            </a:r>
            <a:endParaRPr b="0" i="0" sz="1100" u="none" cap="none" strike="noStrike">
              <a:solidFill>
                <a:schemeClr val="dk1"/>
              </a:solidFill>
              <a:latin typeface="Calibri"/>
              <a:ea typeface="Calibri"/>
              <a:cs typeface="Calibri"/>
              <a:sym typeface="Calibri"/>
            </a:endParaRPr>
          </a:p>
        </p:txBody>
      </p:sp>
      <p:sp>
        <p:nvSpPr>
          <p:cNvPr id="213" name="Google Shape;213;p12"/>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214" name="Google Shape;214;p12"/>
          <p:cNvSpPr/>
          <p:nvPr/>
        </p:nvSpPr>
        <p:spPr>
          <a:xfrm>
            <a:off x="6245352" y="6537960"/>
            <a:ext cx="5486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12 / 14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1F26"/>
        </a:solidFill>
      </p:bgPr>
    </p:bg>
    <p:spTree>
      <p:nvGrpSpPr>
        <p:cNvPr id="219" name="Shape 219"/>
        <p:cNvGrpSpPr/>
        <p:nvPr/>
      </p:nvGrpSpPr>
      <p:grpSpPr>
        <a:xfrm>
          <a:off x="0" y="0"/>
          <a:ext cx="0" cy="0"/>
          <a:chOff x="0" y="0"/>
          <a:chExt cx="0" cy="0"/>
        </a:xfrm>
      </p:grpSpPr>
      <p:sp>
        <p:nvSpPr>
          <p:cNvPr id="220" name="Google Shape;220;p13"/>
          <p:cNvSpPr/>
          <p:nvPr/>
        </p:nvSpPr>
        <p:spPr>
          <a:xfrm>
            <a:off x="548640" y="2194560"/>
            <a:ext cx="1097280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6400"/>
              <a:buFont typeface="Calibri"/>
              <a:buNone/>
            </a:pPr>
            <a:r>
              <a:rPr b="1" i="0" lang="en-US" sz="6400" u="none" cap="none" strike="noStrike">
                <a:solidFill>
                  <a:srgbClr val="FFFFFF"/>
                </a:solidFill>
                <a:latin typeface="Calibri"/>
                <a:ea typeface="Calibri"/>
                <a:cs typeface="Calibri"/>
                <a:sym typeface="Calibri"/>
              </a:rPr>
              <a:t>Thank you</a:t>
            </a:r>
            <a:endParaRPr b="0" i="0" sz="6400" u="none" cap="none" strike="noStrike">
              <a:solidFill>
                <a:schemeClr val="dk1"/>
              </a:solidFill>
              <a:latin typeface="Calibri"/>
              <a:ea typeface="Calibri"/>
              <a:cs typeface="Calibri"/>
              <a:sym typeface="Calibri"/>
            </a:endParaRPr>
          </a:p>
        </p:txBody>
      </p:sp>
      <p:sp>
        <p:nvSpPr>
          <p:cNvPr id="221" name="Google Shape;221;p13"/>
          <p:cNvSpPr/>
          <p:nvPr/>
        </p:nvSpPr>
        <p:spPr>
          <a:xfrm>
            <a:off x="548640" y="3200400"/>
            <a:ext cx="10972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CC4"/>
              </a:buClr>
              <a:buSzPts val="2800"/>
              <a:buFont typeface="Calibri"/>
              <a:buNone/>
            </a:pPr>
            <a:r>
              <a:rPr b="0" i="1" lang="en-US" sz="2800" u="none" cap="none" strike="noStrike">
                <a:solidFill>
                  <a:srgbClr val="B8BCC4"/>
                </a:solidFill>
                <a:latin typeface="Calibri"/>
                <a:ea typeface="Calibri"/>
                <a:cs typeface="Calibri"/>
                <a:sym typeface="Calibri"/>
              </a:rPr>
              <a:t>Questions?</a:t>
            </a:r>
            <a:endParaRPr b="0" i="0" sz="2800" u="none" cap="none" strike="noStrike">
              <a:solidFill>
                <a:schemeClr val="dk1"/>
              </a:solidFill>
              <a:latin typeface="Calibri"/>
              <a:ea typeface="Calibri"/>
              <a:cs typeface="Calibri"/>
              <a:sym typeface="Calibri"/>
            </a:endParaRPr>
          </a:p>
        </p:txBody>
      </p:sp>
      <p:sp>
        <p:nvSpPr>
          <p:cNvPr id="222" name="Google Shape;222;p13"/>
          <p:cNvSpPr/>
          <p:nvPr/>
        </p:nvSpPr>
        <p:spPr>
          <a:xfrm>
            <a:off x="548640" y="4572000"/>
            <a:ext cx="1097280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GitHub:  </a:t>
            </a:r>
            <a:r>
              <a:rPr lang="en-US" sz="1600">
                <a:solidFill>
                  <a:srgbClr val="FFFFFF"/>
                </a:solidFill>
                <a:latin typeface="Calibri"/>
                <a:ea typeface="Calibri"/>
                <a:cs typeface="Calibri"/>
                <a:sym typeface="Calibri"/>
              </a:rPr>
              <a:t>https://github.com/kmn01/AssetOpsBench</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Tracking:  </a:t>
            </a:r>
            <a:r>
              <a:rPr lang="en-US" sz="1600">
                <a:solidFill>
                  <a:srgbClr val="FFFFFF"/>
                </a:solidFill>
                <a:latin typeface="Calibri"/>
                <a:ea typeface="Calibri"/>
                <a:cs typeface="Calibri"/>
                <a:sym typeface="Calibri"/>
              </a:rPr>
              <a:t>https://wandb.ai/kmn01-columbia-university/HPML%20Project </a:t>
            </a:r>
            <a:endParaRPr sz="1600">
              <a:solidFill>
                <a:srgbClr val="FFFFFF"/>
              </a:solidFill>
              <a:latin typeface="Calibri"/>
              <a:ea typeface="Calibri"/>
              <a:cs typeface="Calibri"/>
              <a:sym typeface="Calibri"/>
            </a:endParaRPr>
          </a:p>
        </p:txBody>
      </p:sp>
      <p:sp>
        <p:nvSpPr>
          <p:cNvPr id="223" name="Google Shape;223;p13"/>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E939A"/>
              </a:buClr>
              <a:buSzPts val="1000"/>
              <a:buFont typeface="Calibri"/>
              <a:buNone/>
            </a:pPr>
            <a:r>
              <a:rPr b="0" i="1" lang="en-US" sz="1000" u="none" cap="none" strike="noStrike">
                <a:solidFill>
                  <a:srgbClr val="8E939A"/>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224" name="Google Shape;224;p13"/>
          <p:cNvSpPr/>
          <p:nvPr/>
        </p:nvSpPr>
        <p:spPr>
          <a:xfrm>
            <a:off x="6245352" y="6537960"/>
            <a:ext cx="5486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E939A"/>
              </a:buClr>
              <a:buSzPts val="1000"/>
              <a:buFont typeface="Calibri"/>
              <a:buNone/>
            </a:pPr>
            <a:r>
              <a:rPr b="0" i="0" lang="en-US" sz="1000" u="none" cap="none" strike="noStrike">
                <a:solidFill>
                  <a:srgbClr val="8E939A"/>
                </a:solidFill>
                <a:latin typeface="Calibri"/>
                <a:ea typeface="Calibri"/>
                <a:cs typeface="Calibri"/>
                <a:sym typeface="Calibri"/>
              </a:rPr>
              <a:t>13 / 14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229" name="Shape 229"/>
        <p:cNvGrpSpPr/>
        <p:nvPr/>
      </p:nvGrpSpPr>
      <p:grpSpPr>
        <a:xfrm>
          <a:off x="0" y="0"/>
          <a:ext cx="0" cy="0"/>
          <a:chOff x="0" y="0"/>
          <a:chExt cx="0" cy="0"/>
        </a:xfrm>
      </p:grpSpPr>
      <p:sp>
        <p:nvSpPr>
          <p:cNvPr id="230" name="Google Shape;230;p14"/>
          <p:cNvSpPr/>
          <p:nvPr/>
        </p:nvSpPr>
        <p:spPr>
          <a:xfrm>
            <a:off x="457200" y="502920"/>
            <a:ext cx="1127455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Backup — Experimental Setup</a:t>
            </a:r>
            <a:endParaRPr b="0" i="0" sz="3200" u="none" cap="none" strike="noStrike">
              <a:solidFill>
                <a:schemeClr val="dk1"/>
              </a:solidFill>
              <a:latin typeface="Calibri"/>
              <a:ea typeface="Calibri"/>
              <a:cs typeface="Calibri"/>
              <a:sym typeface="Calibri"/>
            </a:endParaRPr>
          </a:p>
        </p:txBody>
      </p:sp>
      <p:cxnSp>
        <p:nvCxnSpPr>
          <p:cNvPr id="231" name="Google Shape;231;p14"/>
          <p:cNvCxnSpPr/>
          <p:nvPr/>
        </p:nvCxnSpPr>
        <p:spPr>
          <a:xfrm>
            <a:off x="457200" y="1188720"/>
            <a:ext cx="11274552" cy="0"/>
          </a:xfrm>
          <a:prstGeom prst="straightConnector1">
            <a:avLst/>
          </a:prstGeom>
          <a:noFill/>
          <a:ln cap="flat" cmpd="sng" w="9525">
            <a:solidFill>
              <a:srgbClr val="D9D9D9"/>
            </a:solidFill>
            <a:prstDash val="solid"/>
            <a:round/>
            <a:headEnd len="sm" w="sm" type="none"/>
            <a:tailEnd len="sm" w="sm" type="none"/>
          </a:ln>
        </p:spPr>
      </p:cxnSp>
      <p:sp>
        <p:nvSpPr>
          <p:cNvPr id="232" name="Google Shape;232;p14"/>
          <p:cNvSpPr/>
          <p:nvPr/>
        </p:nvSpPr>
        <p:spPr>
          <a:xfrm>
            <a:off x="457200" y="13258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Backup slide. Use for Q&amp;A. Add more backup slides as needed.</a:t>
            </a:r>
            <a:endParaRPr b="0" i="0" sz="1000" u="none" cap="none" strike="noStrike">
              <a:solidFill>
                <a:schemeClr val="dk1"/>
              </a:solidFill>
              <a:latin typeface="Calibri"/>
              <a:ea typeface="Calibri"/>
              <a:cs typeface="Calibri"/>
              <a:sym typeface="Calibri"/>
            </a:endParaRPr>
          </a:p>
        </p:txBody>
      </p:sp>
      <p:graphicFrame>
        <p:nvGraphicFramePr>
          <p:cNvPr id="233" name="Google Shape;233;p14"/>
          <p:cNvGraphicFramePr/>
          <p:nvPr/>
        </p:nvGraphicFramePr>
        <p:xfrm>
          <a:off x="457200" y="1828800"/>
          <a:ext cx="3000000" cy="3000000"/>
        </p:xfrm>
        <a:graphic>
          <a:graphicData uri="http://schemas.openxmlformats.org/drawingml/2006/table">
            <a:tbl>
              <a:tblPr>
                <a:noFill/>
                <a:tableStyleId>{744F08F5-394F-45FC-B09F-C6E03F6852BC}</a:tableStyleId>
              </a:tblPr>
              <a:tblGrid>
                <a:gridCol w="3200400"/>
                <a:gridCol w="4023350"/>
                <a:gridCol w="4050800"/>
              </a:tblGrid>
              <a:tr h="411475">
                <a:tc>
                  <a:txBody>
                    <a:bodyPr/>
                    <a:lstStyle/>
                    <a:p>
                      <a:pPr indent="0" lvl="0" marL="0" marR="0" rtl="0" algn="l">
                        <a:spcBef>
                          <a:spcPts val="0"/>
                        </a:spcBef>
                        <a:spcAft>
                          <a:spcPts val="0"/>
                        </a:spcAft>
                        <a:buClr>
                          <a:srgbClr val="1A1A1A"/>
                        </a:buClr>
                        <a:buSzPts val="1300"/>
                        <a:buFont typeface="Calibri"/>
                        <a:buNone/>
                      </a:pPr>
                      <a:r>
                        <a:rPr b="1" lang="en-US" sz="1300" u="none" cap="none" strike="noStrike">
                          <a:solidFill>
                            <a:srgbClr val="1A1A1A"/>
                          </a:solidFill>
                          <a:latin typeface="Calibri"/>
                          <a:ea typeface="Calibri"/>
                          <a:cs typeface="Calibri"/>
                          <a:sym typeface="Calibri"/>
                        </a:rPr>
                        <a:t>Setting</a:t>
                      </a:r>
                      <a:endParaRPr sz="13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Clr>
                          <a:srgbClr val="1A1A1A"/>
                        </a:buClr>
                        <a:buSzPts val="1300"/>
                        <a:buFont typeface="Calibri"/>
                        <a:buNone/>
                      </a:pPr>
                      <a:r>
                        <a:rPr b="1" lang="en-US" sz="1300" u="none" cap="none" strike="noStrike">
                          <a:solidFill>
                            <a:srgbClr val="1A1A1A"/>
                          </a:solidFill>
                          <a:latin typeface="Calibri"/>
                          <a:ea typeface="Calibri"/>
                          <a:cs typeface="Calibri"/>
                          <a:sym typeface="Calibri"/>
                        </a:rPr>
                        <a:t>Baseline</a:t>
                      </a:r>
                      <a:endParaRPr sz="13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Clr>
                          <a:srgbClr val="1A1A1A"/>
                        </a:buClr>
                        <a:buSzPts val="1300"/>
                        <a:buFont typeface="Calibri"/>
                        <a:buNone/>
                      </a:pPr>
                      <a:r>
                        <a:rPr b="1" lang="en-US" sz="1300" u="none" cap="none" strike="noStrike">
                          <a:solidFill>
                            <a:srgbClr val="1A1A1A"/>
                          </a:solidFill>
                          <a:latin typeface="Calibri"/>
                          <a:ea typeface="Calibri"/>
                          <a:cs typeface="Calibri"/>
                          <a:sym typeface="Calibri"/>
                        </a:rPr>
                        <a:t>Optimized</a:t>
                      </a:r>
                      <a:endParaRPr sz="13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2F2F2"/>
                    </a:solidFill>
                  </a:tcPr>
                </a:tc>
              </a:tr>
              <a:tr h="411475">
                <a:tc>
                  <a:txBody>
                    <a:bodyPr/>
                    <a:lstStyle/>
                    <a:p>
                      <a:pPr indent="0" lvl="0" marL="0" marR="0" rtl="0" algn="l">
                        <a:spcBef>
                          <a:spcPts val="0"/>
                        </a:spcBef>
                        <a:spcAft>
                          <a:spcPts val="0"/>
                        </a:spcAft>
                        <a:buClr>
                          <a:srgbClr val="1A1A1A"/>
                        </a:buClr>
                        <a:buSzPts val="1200"/>
                        <a:buFont typeface="Calibri"/>
                        <a:buNone/>
                      </a:pPr>
                      <a:r>
                        <a:rPr lang="en-US" sz="1200" u="none" cap="none" strike="noStrike">
                          <a:solidFill>
                            <a:srgbClr val="1A1A1A"/>
                          </a:solidFill>
                          <a:latin typeface="Calibri"/>
                          <a:ea typeface="Calibri"/>
                          <a:cs typeface="Calibri"/>
                          <a:sym typeface="Calibri"/>
                        </a:rPr>
                        <a:t>Batch size</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rPr lang="en-US" sz="1200" u="none" cap="none" strike="noStrike">
                          <a:solidFill>
                            <a:srgbClr val="1A1A1A"/>
                          </a:solidFill>
                          <a:latin typeface="Calibri"/>
                          <a:ea typeface="Calibri"/>
                          <a:cs typeface="Calibri"/>
                          <a:sym typeface="Calibri"/>
                        </a:rPr>
                        <a:t>[32]</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rPr lang="en-US" sz="1200" u="none" cap="none" strike="noStrike">
                          <a:solidFill>
                            <a:srgbClr val="1A1A1A"/>
                          </a:solidFill>
                          <a:latin typeface="Calibri"/>
                          <a:ea typeface="Calibri"/>
                          <a:cs typeface="Calibri"/>
                          <a:sym typeface="Calibri"/>
                        </a:rPr>
                        <a:t>[64]</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411475">
                <a:tc>
                  <a:txBody>
                    <a:bodyPr/>
                    <a:lstStyle/>
                    <a:p>
                      <a:pPr indent="0" lvl="0" marL="0" marR="0" rtl="0" algn="l">
                        <a:spcBef>
                          <a:spcPts val="0"/>
                        </a:spcBef>
                        <a:spcAft>
                          <a:spcPts val="0"/>
                        </a:spcAft>
                        <a:buClr>
                          <a:srgbClr val="1A1A1A"/>
                        </a:buClr>
                        <a:buSzPts val="1200"/>
                        <a:buFont typeface="Calibri"/>
                        <a:buNone/>
                      </a:pPr>
                      <a:r>
                        <a:rPr lang="en-US" sz="1200" u="none" cap="none" strike="noStrike">
                          <a:solidFill>
                            <a:srgbClr val="1A1A1A"/>
                          </a:solidFill>
                          <a:latin typeface="Calibri"/>
                          <a:ea typeface="Calibri"/>
                          <a:cs typeface="Calibri"/>
                          <a:sym typeface="Calibri"/>
                        </a:rPr>
                        <a:t>Precision</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rPr lang="en-US" sz="1200" u="none" cap="none" strike="noStrike">
                          <a:solidFill>
                            <a:srgbClr val="1A1A1A"/>
                          </a:solidFill>
                          <a:latin typeface="Calibri"/>
                          <a:ea typeface="Calibri"/>
                          <a:cs typeface="Calibri"/>
                          <a:sym typeface="Calibri"/>
                        </a:rPr>
                        <a:t>[FP32]</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rPr lang="en-US" sz="1200" u="none" cap="none" strike="noStrike">
                          <a:solidFill>
                            <a:srgbClr val="1A1A1A"/>
                          </a:solidFill>
                          <a:latin typeface="Calibri"/>
                          <a:ea typeface="Calibri"/>
                          <a:cs typeface="Calibri"/>
                          <a:sym typeface="Calibri"/>
                        </a:rPr>
                        <a:t>[BF16 + FP8]</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411475">
                <a:tc>
                  <a:txBody>
                    <a:bodyPr/>
                    <a:lstStyle/>
                    <a:p>
                      <a:pPr indent="0" lvl="0" marL="0" marR="0" rtl="0" algn="l">
                        <a:spcBef>
                          <a:spcPts val="0"/>
                        </a:spcBef>
                        <a:spcAft>
                          <a:spcPts val="0"/>
                        </a:spcAft>
                        <a:buClr>
                          <a:srgbClr val="1A1A1A"/>
                        </a:buClr>
                        <a:buSzPts val="1200"/>
                        <a:buFont typeface="Calibri"/>
                        <a:buNone/>
                      </a:pPr>
                      <a:r>
                        <a:rPr lang="en-US" sz="1200" u="none" cap="none" strike="noStrike">
                          <a:solidFill>
                            <a:srgbClr val="1A1A1A"/>
                          </a:solidFill>
                          <a:latin typeface="Calibri"/>
                          <a:ea typeface="Calibri"/>
                          <a:cs typeface="Calibri"/>
                          <a:sym typeface="Calibri"/>
                        </a:rPr>
                        <a:t>Learning rate</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rPr lang="en-US" sz="1200" u="none" cap="none" strike="noStrike">
                          <a:solidFill>
                            <a:srgbClr val="1A1A1A"/>
                          </a:solidFill>
                          <a:latin typeface="Calibri"/>
                          <a:ea typeface="Calibri"/>
                          <a:cs typeface="Calibri"/>
                          <a:sym typeface="Calibri"/>
                        </a:rPr>
                        <a:t>[1e-4]</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rPr lang="en-US" sz="1200" u="none" cap="none" strike="noStrike">
                          <a:solidFill>
                            <a:srgbClr val="1A1A1A"/>
                          </a:solidFill>
                          <a:latin typeface="Calibri"/>
                          <a:ea typeface="Calibri"/>
                          <a:cs typeface="Calibri"/>
                          <a:sym typeface="Calibri"/>
                        </a:rPr>
                        <a:t>[1e-4 with warmup]</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411475">
                <a:tc>
                  <a:txBody>
                    <a:bodyPr/>
                    <a:lstStyle/>
                    <a:p>
                      <a:pPr indent="0" lvl="0" marL="0" marR="0" rtl="0" algn="l">
                        <a:spcBef>
                          <a:spcPts val="0"/>
                        </a:spcBef>
                        <a:spcAft>
                          <a:spcPts val="0"/>
                        </a:spcAft>
                        <a:buClr>
                          <a:srgbClr val="1A1A1A"/>
                        </a:buClr>
                        <a:buSzPts val="1200"/>
                        <a:buFont typeface="Calibri"/>
                        <a:buNone/>
                      </a:pPr>
                      <a:r>
                        <a:rPr lang="en-US" sz="1200" u="none" cap="none" strike="noStrike">
                          <a:solidFill>
                            <a:srgbClr val="1A1A1A"/>
                          </a:solidFill>
                          <a:latin typeface="Calibri"/>
                          <a:ea typeface="Calibri"/>
                          <a:cs typeface="Calibri"/>
                          <a:sym typeface="Calibri"/>
                        </a:rPr>
                        <a:t>Sequence length</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rPr lang="en-US" sz="1200" u="none" cap="none" strike="noStrike">
                          <a:solidFill>
                            <a:srgbClr val="1A1A1A"/>
                          </a:solidFill>
                          <a:latin typeface="Calibri"/>
                          <a:ea typeface="Calibri"/>
                          <a:cs typeface="Calibri"/>
                          <a:sym typeface="Calibri"/>
                        </a:rPr>
                        <a:t>[2048]</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rPr lang="en-US" sz="1200" u="none" cap="none" strike="noStrike">
                          <a:solidFill>
                            <a:srgbClr val="1A1A1A"/>
                          </a:solidFill>
                          <a:latin typeface="Calibri"/>
                          <a:ea typeface="Calibri"/>
                          <a:cs typeface="Calibri"/>
                          <a:sym typeface="Calibri"/>
                        </a:rPr>
                        <a:t>[4096]</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411475">
                <a:tc>
                  <a:txBody>
                    <a:bodyPr/>
                    <a:lstStyle/>
                    <a:p>
                      <a:pPr indent="0" lvl="0" marL="0" marR="0" rtl="0" algn="l">
                        <a:spcBef>
                          <a:spcPts val="0"/>
                        </a:spcBef>
                        <a:spcAft>
                          <a:spcPts val="0"/>
                        </a:spcAft>
                        <a:buClr>
                          <a:srgbClr val="1A1A1A"/>
                        </a:buClr>
                        <a:buSzPts val="1200"/>
                        <a:buFont typeface="Calibri"/>
                        <a:buNone/>
                      </a:pPr>
                      <a:r>
                        <a:rPr lang="en-US" sz="1200" u="none" cap="none" strike="noStrike">
                          <a:solidFill>
                            <a:srgbClr val="1A1A1A"/>
                          </a:solidFill>
                          <a:latin typeface="Calibri"/>
                          <a:ea typeface="Calibri"/>
                          <a:cs typeface="Calibri"/>
                          <a:sym typeface="Calibri"/>
                        </a:rPr>
                        <a:t>Epochs / steps</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rPr lang="en-US" sz="1200" u="none" cap="none" strike="noStrike">
                          <a:solidFill>
                            <a:srgbClr val="1A1A1A"/>
                          </a:solidFill>
                          <a:latin typeface="Calibri"/>
                          <a:ea typeface="Calibri"/>
                          <a:cs typeface="Calibri"/>
                          <a:sym typeface="Calibri"/>
                        </a:rPr>
                        <a:t>[3 epochs]</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rPr lang="en-US" sz="1200" u="none" cap="none" strike="noStrike">
                          <a:solidFill>
                            <a:srgbClr val="1A1A1A"/>
                          </a:solidFill>
                          <a:latin typeface="Calibri"/>
                          <a:ea typeface="Calibri"/>
                          <a:cs typeface="Calibri"/>
                          <a:sym typeface="Calibri"/>
                        </a:rPr>
                        <a:t>[3 epochs]</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411475">
                <a:tc>
                  <a:txBody>
                    <a:bodyPr/>
                    <a:lstStyle/>
                    <a:p>
                      <a:pPr indent="0" lvl="0" marL="0" marR="0" rtl="0" algn="l">
                        <a:spcBef>
                          <a:spcPts val="0"/>
                        </a:spcBef>
                        <a:spcAft>
                          <a:spcPts val="0"/>
                        </a:spcAft>
                        <a:buClr>
                          <a:srgbClr val="1A1A1A"/>
                        </a:buClr>
                        <a:buSzPts val="1200"/>
                        <a:buFont typeface="Calibri"/>
                        <a:buNone/>
                      </a:pPr>
                      <a:r>
                        <a:rPr lang="en-US" sz="1200" u="none" cap="none" strike="noStrike">
                          <a:solidFill>
                            <a:srgbClr val="1A1A1A"/>
                          </a:solidFill>
                          <a:latin typeface="Calibri"/>
                          <a:ea typeface="Calibri"/>
                          <a:cs typeface="Calibri"/>
                          <a:sym typeface="Calibri"/>
                        </a:rPr>
                        <a:t>Hardware</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rPr lang="en-US" sz="1200" u="none" cap="none" strike="noStrike">
                          <a:solidFill>
                            <a:srgbClr val="1A1A1A"/>
                          </a:solidFill>
                          <a:latin typeface="Calibri"/>
                          <a:ea typeface="Calibri"/>
                          <a:cs typeface="Calibri"/>
                          <a:sym typeface="Calibri"/>
                        </a:rPr>
                        <a:t>[1× A100 80GB]</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rPr lang="en-US" sz="1200" u="none" cap="none" strike="noStrike">
                          <a:solidFill>
                            <a:srgbClr val="1A1A1A"/>
                          </a:solidFill>
                          <a:latin typeface="Calibri"/>
                          <a:ea typeface="Calibri"/>
                          <a:cs typeface="Calibri"/>
                          <a:sym typeface="Calibri"/>
                        </a:rPr>
                        <a:t>[1× A100 80GB]</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411475">
                <a:tc>
                  <a:txBody>
                    <a:bodyPr/>
                    <a:lstStyle/>
                    <a:p>
                      <a:pPr indent="0" lvl="0" marL="0" marR="0" rtl="0" algn="l">
                        <a:spcBef>
                          <a:spcPts val="0"/>
                        </a:spcBef>
                        <a:spcAft>
                          <a:spcPts val="0"/>
                        </a:spcAft>
                        <a:buClr>
                          <a:srgbClr val="1A1A1A"/>
                        </a:buClr>
                        <a:buSzPts val="1200"/>
                        <a:buFont typeface="Calibri"/>
                        <a:buNone/>
                      </a:pPr>
                      <a:r>
                        <a:rPr lang="en-US" sz="1200" u="none" cap="none" strike="noStrike">
                          <a:solidFill>
                            <a:srgbClr val="1A1A1A"/>
                          </a:solidFill>
                          <a:latin typeface="Calibri"/>
                          <a:ea typeface="Calibri"/>
                          <a:cs typeface="Calibri"/>
                          <a:sym typeface="Calibri"/>
                        </a:rPr>
                        <a:t>Software stack</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rPr lang="en-US" sz="1200" u="none" cap="none" strike="noStrike">
                          <a:solidFill>
                            <a:srgbClr val="1A1A1A"/>
                          </a:solidFill>
                          <a:latin typeface="Calibri"/>
                          <a:ea typeface="Calibri"/>
                          <a:cs typeface="Calibri"/>
                          <a:sym typeface="Calibri"/>
                        </a:rPr>
                        <a:t>[PyTorch 2.5, CUDA 12.4]</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rPr lang="en-US" sz="1200" u="none" cap="none" strike="noStrike">
                          <a:solidFill>
                            <a:srgbClr val="1A1A1A"/>
                          </a:solidFill>
                          <a:latin typeface="Calibri"/>
                          <a:ea typeface="Calibri"/>
                          <a:cs typeface="Calibri"/>
                          <a:sym typeface="Calibri"/>
                        </a:rPr>
                        <a:t>[+FlashAttn-2, +bitsandbytes]</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bl>
          </a:graphicData>
        </a:graphic>
      </p:graphicFrame>
      <p:sp>
        <p:nvSpPr>
          <p:cNvPr id="234" name="Google Shape;234;p14"/>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235" name="Google Shape;235;p14"/>
          <p:cNvSpPr/>
          <p:nvPr/>
        </p:nvSpPr>
        <p:spPr>
          <a:xfrm>
            <a:off x="6245352" y="6537960"/>
            <a:ext cx="5486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14 / 14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0" name="Shape 240"/>
        <p:cNvGrpSpPr/>
        <p:nvPr/>
      </p:nvGrpSpPr>
      <p:grpSpPr>
        <a:xfrm>
          <a:off x="0" y="0"/>
          <a:ext cx="0" cy="0"/>
          <a:chOff x="0" y="0"/>
          <a:chExt cx="0" cy="0"/>
        </a:xfrm>
      </p:grpSpPr>
      <p:sp>
        <p:nvSpPr>
          <p:cNvPr id="241" name="Google Shape;241;g3dde1bbe957_1_0"/>
          <p:cNvSpPr/>
          <p:nvPr/>
        </p:nvSpPr>
        <p:spPr>
          <a:xfrm>
            <a:off x="457200" y="502920"/>
            <a:ext cx="11274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lang="en-US" sz="3200">
                <a:solidFill>
                  <a:srgbClr val="1A1A1A"/>
                </a:solidFill>
                <a:latin typeface="Calibri"/>
                <a:ea typeface="Calibri"/>
                <a:cs typeface="Calibri"/>
                <a:sym typeface="Calibri"/>
              </a:rPr>
              <a:t>Errors encountered - “unknown site Chiller 6”</a:t>
            </a:r>
            <a:endParaRPr b="1" sz="3200">
              <a:solidFill>
                <a:srgbClr val="1A1A1A"/>
              </a:solidFill>
              <a:latin typeface="Calibri"/>
              <a:ea typeface="Calibri"/>
              <a:cs typeface="Calibri"/>
              <a:sym typeface="Calibri"/>
            </a:endParaRPr>
          </a:p>
        </p:txBody>
      </p:sp>
      <p:cxnSp>
        <p:nvCxnSpPr>
          <p:cNvPr id="242" name="Google Shape;242;g3dde1bbe957_1_0"/>
          <p:cNvCxnSpPr/>
          <p:nvPr/>
        </p:nvCxnSpPr>
        <p:spPr>
          <a:xfrm>
            <a:off x="457200" y="1188720"/>
            <a:ext cx="11274600" cy="0"/>
          </a:xfrm>
          <a:prstGeom prst="straightConnector1">
            <a:avLst/>
          </a:prstGeom>
          <a:noFill/>
          <a:ln cap="flat" cmpd="sng" w="9525">
            <a:solidFill>
              <a:srgbClr val="D9D9D9"/>
            </a:solidFill>
            <a:prstDash val="solid"/>
            <a:round/>
            <a:headEnd len="sm" w="sm" type="none"/>
            <a:tailEnd len="sm" w="sm" type="none"/>
          </a:ln>
        </p:spPr>
      </p:cxnSp>
      <p:sp>
        <p:nvSpPr>
          <p:cNvPr id="243" name="Google Shape;243;g3dde1bbe957_1_0"/>
          <p:cNvSpPr/>
          <p:nvPr/>
        </p:nvSpPr>
        <p:spPr>
          <a:xfrm>
            <a:off x="457200" y="1521920"/>
            <a:ext cx="457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Calibri"/>
              <a:buNone/>
            </a:pPr>
            <a:r>
              <a:rPr b="1" i="0" lang="en-US" sz="2200" u="none" cap="none" strike="noStrike">
                <a:solidFill>
                  <a:srgbClr val="1A1A1A"/>
                </a:solidFill>
                <a:latin typeface="Calibri"/>
                <a:ea typeface="Calibri"/>
                <a:cs typeface="Calibri"/>
                <a:sym typeface="Calibri"/>
              </a:rPr>
              <a:t>1.</a:t>
            </a:r>
            <a:endParaRPr b="0" i="0" sz="2200" u="none" cap="none" strike="noStrike">
              <a:solidFill>
                <a:schemeClr val="dk1"/>
              </a:solidFill>
              <a:latin typeface="Calibri"/>
              <a:ea typeface="Calibri"/>
              <a:cs typeface="Calibri"/>
              <a:sym typeface="Calibri"/>
            </a:endParaRPr>
          </a:p>
        </p:txBody>
      </p:sp>
      <p:sp>
        <p:nvSpPr>
          <p:cNvPr id="244" name="Google Shape;244;g3dde1bbe957_1_0"/>
          <p:cNvSpPr/>
          <p:nvPr/>
        </p:nvSpPr>
        <p:spPr>
          <a:xfrm>
            <a:off x="960120" y="1521920"/>
            <a:ext cx="10698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000"/>
              <a:buFont typeface="Calibri"/>
              <a:buNone/>
            </a:pPr>
            <a:r>
              <a:rPr b="1" lang="en-US" sz="2000">
                <a:solidFill>
                  <a:srgbClr val="1A1A1A"/>
                </a:solidFill>
                <a:latin typeface="Calibri"/>
                <a:ea typeface="Calibri"/>
                <a:cs typeface="Calibri"/>
                <a:sym typeface="Calibri"/>
              </a:rPr>
              <a:t>MCP Skill Hints</a:t>
            </a:r>
            <a:endParaRPr b="0" i="0" sz="2000" u="none" cap="none" strike="noStrike">
              <a:solidFill>
                <a:schemeClr val="dk1"/>
              </a:solidFill>
              <a:latin typeface="Calibri"/>
              <a:ea typeface="Calibri"/>
              <a:cs typeface="Calibri"/>
              <a:sym typeface="Calibri"/>
            </a:endParaRPr>
          </a:p>
        </p:txBody>
      </p:sp>
      <p:sp>
        <p:nvSpPr>
          <p:cNvPr id="245" name="Google Shape;245;g3dde1bbe957_1_0"/>
          <p:cNvSpPr/>
          <p:nvPr/>
        </p:nvSpPr>
        <p:spPr>
          <a:xfrm>
            <a:off x="960120" y="2024840"/>
            <a:ext cx="106986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400"/>
              <a:buFont typeface="Calibri"/>
              <a:buNone/>
            </a:pPr>
            <a:r>
              <a:rPr lang="en-US">
                <a:solidFill>
                  <a:srgbClr val="6B6F76"/>
                </a:solidFill>
                <a:latin typeface="Calibri"/>
                <a:ea typeface="Calibri"/>
                <a:cs typeface="Calibri"/>
                <a:sym typeface="Calibri"/>
              </a:rPr>
              <a:t>We saw that there were several systematic errors when we ran our system on the scenarios. For example, below we see one of the </a:t>
            </a:r>
            <a:r>
              <a:rPr lang="en-US">
                <a:solidFill>
                  <a:srgbClr val="6B6F76"/>
                </a:solidFill>
                <a:latin typeface="Calibri"/>
                <a:ea typeface="Calibri"/>
                <a:cs typeface="Calibri"/>
                <a:sym typeface="Calibri"/>
              </a:rPr>
              <a:t>errors</a:t>
            </a:r>
            <a:r>
              <a:rPr lang="en-US">
                <a:solidFill>
                  <a:srgbClr val="6B6F76"/>
                </a:solidFill>
                <a:latin typeface="Calibri"/>
                <a:ea typeface="Calibri"/>
                <a:cs typeface="Calibri"/>
                <a:sym typeface="Calibri"/>
              </a:rPr>
              <a:t> we surface in our dashboard. It was related to data access:</a:t>
            </a:r>
            <a:endParaRPr>
              <a:solidFill>
                <a:srgbClr val="6B6F76"/>
              </a:solidFill>
              <a:latin typeface="Calibri"/>
              <a:ea typeface="Calibri"/>
              <a:cs typeface="Calibri"/>
              <a:sym typeface="Calibri"/>
            </a:endParaRPr>
          </a:p>
        </p:txBody>
      </p:sp>
      <p:sp>
        <p:nvSpPr>
          <p:cNvPr id="246" name="Google Shape;246;g3dde1bbe957_1_0"/>
          <p:cNvSpPr/>
          <p:nvPr/>
        </p:nvSpPr>
        <p:spPr>
          <a:xfrm>
            <a:off x="457200" y="618536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pic>
        <p:nvPicPr>
          <p:cNvPr id="247" name="Google Shape;247;g3dde1bbe957_1_0"/>
          <p:cNvPicPr preferRelativeResize="0"/>
          <p:nvPr/>
        </p:nvPicPr>
        <p:blipFill>
          <a:blip r:embed="rId3">
            <a:alphaModFix/>
          </a:blip>
          <a:stretch>
            <a:fillRect/>
          </a:stretch>
        </p:blipFill>
        <p:spPr>
          <a:xfrm>
            <a:off x="152400" y="2847878"/>
            <a:ext cx="11887201" cy="551408"/>
          </a:xfrm>
          <a:prstGeom prst="rect">
            <a:avLst/>
          </a:prstGeom>
          <a:noFill/>
          <a:ln>
            <a:noFill/>
          </a:ln>
          <a:effectLst>
            <a:outerShdw blurRad="57150" rotWithShape="0" algn="bl" dir="5400000" dist="19050">
              <a:srgbClr val="000000">
                <a:alpha val="50000"/>
              </a:srgbClr>
            </a:outerShdw>
          </a:effectLst>
        </p:spPr>
      </p:pic>
      <p:sp>
        <p:nvSpPr>
          <p:cNvPr id="248" name="Google Shape;248;g3dde1bbe957_1_0"/>
          <p:cNvSpPr txBox="1"/>
          <p:nvPr/>
        </p:nvSpPr>
        <p:spPr>
          <a:xfrm>
            <a:off x="0" y="0"/>
            <a:ext cx="3000000" cy="3462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t/>
            </a:r>
            <a:endParaRPr sz="1050">
              <a:solidFill>
                <a:srgbClr val="BBBEBF"/>
              </a:solidFill>
              <a:highlight>
                <a:srgbClr val="121314"/>
              </a:highlight>
              <a:latin typeface="Courier New"/>
              <a:ea typeface="Courier New"/>
              <a:cs typeface="Courier New"/>
              <a:sym typeface="Courier New"/>
            </a:endParaRPr>
          </a:p>
        </p:txBody>
      </p:sp>
      <p:sp>
        <p:nvSpPr>
          <p:cNvPr id="249" name="Google Shape;249;g3dde1bbe957_1_0"/>
          <p:cNvSpPr/>
          <p:nvPr/>
        </p:nvSpPr>
        <p:spPr>
          <a:xfrm>
            <a:off x="370225" y="3693575"/>
            <a:ext cx="11477100" cy="777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6B6F76"/>
              </a:buClr>
              <a:buSzPts val="1400"/>
              <a:buFont typeface="Calibri"/>
              <a:buNone/>
            </a:pPr>
            <a:r>
              <a:rPr lang="en-US">
                <a:solidFill>
                  <a:srgbClr val="6B6F76"/>
                </a:solidFill>
                <a:latin typeface="Calibri"/>
                <a:ea typeface="Calibri"/>
                <a:cs typeface="Calibri"/>
                <a:sym typeface="Calibri"/>
              </a:rPr>
              <a:t>It turns out that the LLM was using the MCP Server function incorrectly, using “Chiller 6” as a site when it should be an asset. We added a more descriptive function docstring as well as better hinting in our tool call prompt.</a:t>
            </a:r>
            <a:endParaRPr>
              <a:solidFill>
                <a:srgbClr val="6B6F76"/>
              </a:solidFill>
              <a:latin typeface="Calibri"/>
              <a:ea typeface="Calibri"/>
              <a:cs typeface="Calibri"/>
              <a:sym typeface="Calibri"/>
            </a:endParaRPr>
          </a:p>
        </p:txBody>
      </p:sp>
      <p:pic>
        <p:nvPicPr>
          <p:cNvPr id="250" name="Google Shape;250;g3dde1bbe957_1_0"/>
          <p:cNvPicPr preferRelativeResize="0"/>
          <p:nvPr/>
        </p:nvPicPr>
        <p:blipFill>
          <a:blip r:embed="rId4">
            <a:alphaModFix/>
          </a:blip>
          <a:stretch>
            <a:fillRect/>
          </a:stretch>
        </p:blipFill>
        <p:spPr>
          <a:xfrm>
            <a:off x="2247125" y="4520623"/>
            <a:ext cx="7392946" cy="18404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5" name="Shape 255"/>
        <p:cNvGrpSpPr/>
        <p:nvPr/>
      </p:nvGrpSpPr>
      <p:grpSpPr>
        <a:xfrm>
          <a:off x="0" y="0"/>
          <a:ext cx="0" cy="0"/>
          <a:chOff x="0" y="0"/>
          <a:chExt cx="0" cy="0"/>
        </a:xfrm>
      </p:grpSpPr>
      <p:sp>
        <p:nvSpPr>
          <p:cNvPr id="256" name="Google Shape;256;g3dde1bbe957_1_26"/>
          <p:cNvSpPr/>
          <p:nvPr/>
        </p:nvSpPr>
        <p:spPr>
          <a:xfrm>
            <a:off x="457200" y="502920"/>
            <a:ext cx="11274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lang="en-US" sz="3200">
                <a:solidFill>
                  <a:srgbClr val="1A1A1A"/>
                </a:solidFill>
                <a:latin typeface="Calibri"/>
                <a:ea typeface="Calibri"/>
                <a:cs typeface="Calibri"/>
                <a:sym typeface="Calibri"/>
              </a:rPr>
              <a:t>Different models gave significantly different results</a:t>
            </a:r>
            <a:endParaRPr b="1" sz="3200">
              <a:solidFill>
                <a:srgbClr val="1A1A1A"/>
              </a:solidFill>
              <a:latin typeface="Calibri"/>
              <a:ea typeface="Calibri"/>
              <a:cs typeface="Calibri"/>
              <a:sym typeface="Calibri"/>
            </a:endParaRPr>
          </a:p>
        </p:txBody>
      </p:sp>
      <p:cxnSp>
        <p:nvCxnSpPr>
          <p:cNvPr id="257" name="Google Shape;257;g3dde1bbe957_1_26"/>
          <p:cNvCxnSpPr/>
          <p:nvPr/>
        </p:nvCxnSpPr>
        <p:spPr>
          <a:xfrm>
            <a:off x="457200" y="1188720"/>
            <a:ext cx="11274600" cy="0"/>
          </a:xfrm>
          <a:prstGeom prst="straightConnector1">
            <a:avLst/>
          </a:prstGeom>
          <a:noFill/>
          <a:ln cap="flat" cmpd="sng" w="9525">
            <a:solidFill>
              <a:srgbClr val="D9D9D9"/>
            </a:solidFill>
            <a:prstDash val="solid"/>
            <a:round/>
            <a:headEnd len="sm" w="sm" type="none"/>
            <a:tailEnd len="sm" w="sm" type="none"/>
          </a:ln>
        </p:spPr>
      </p:cxnSp>
      <p:sp>
        <p:nvSpPr>
          <p:cNvPr id="258" name="Google Shape;258;g3dde1bbe957_1_26"/>
          <p:cNvSpPr/>
          <p:nvPr/>
        </p:nvSpPr>
        <p:spPr>
          <a:xfrm>
            <a:off x="457200" y="6185385"/>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259" name="Google Shape;259;g3dde1bbe957_1_26"/>
          <p:cNvSpPr txBox="1"/>
          <p:nvPr/>
        </p:nvSpPr>
        <p:spPr>
          <a:xfrm>
            <a:off x="0" y="0"/>
            <a:ext cx="3000000" cy="3462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t/>
            </a:r>
            <a:endParaRPr sz="1050">
              <a:solidFill>
                <a:srgbClr val="BBBEBF"/>
              </a:solidFill>
              <a:highlight>
                <a:srgbClr val="121314"/>
              </a:highlight>
              <a:latin typeface="Courier New"/>
              <a:ea typeface="Courier New"/>
              <a:cs typeface="Courier New"/>
              <a:sym typeface="Courier New"/>
            </a:endParaRPr>
          </a:p>
        </p:txBody>
      </p:sp>
      <p:pic>
        <p:nvPicPr>
          <p:cNvPr id="260" name="Google Shape;260;g3dde1bbe957_1_26"/>
          <p:cNvPicPr preferRelativeResize="0"/>
          <p:nvPr/>
        </p:nvPicPr>
        <p:blipFill>
          <a:blip r:embed="rId3">
            <a:alphaModFix/>
          </a:blip>
          <a:stretch>
            <a:fillRect/>
          </a:stretch>
        </p:blipFill>
        <p:spPr>
          <a:xfrm>
            <a:off x="1876950" y="1413113"/>
            <a:ext cx="4562018" cy="2475524"/>
          </a:xfrm>
          <a:prstGeom prst="rect">
            <a:avLst/>
          </a:prstGeom>
          <a:noFill/>
          <a:ln>
            <a:noFill/>
          </a:ln>
        </p:spPr>
      </p:pic>
      <p:pic>
        <p:nvPicPr>
          <p:cNvPr id="261" name="Google Shape;261;g3dde1bbe957_1_26"/>
          <p:cNvPicPr preferRelativeResize="0"/>
          <p:nvPr/>
        </p:nvPicPr>
        <p:blipFill>
          <a:blip r:embed="rId4">
            <a:alphaModFix/>
          </a:blip>
          <a:stretch>
            <a:fillRect/>
          </a:stretch>
        </p:blipFill>
        <p:spPr>
          <a:xfrm>
            <a:off x="6523725" y="1234325"/>
            <a:ext cx="4598921" cy="2475525"/>
          </a:xfrm>
          <a:prstGeom prst="rect">
            <a:avLst/>
          </a:prstGeom>
          <a:noFill/>
          <a:ln>
            <a:noFill/>
          </a:ln>
        </p:spPr>
      </p:pic>
      <p:pic>
        <p:nvPicPr>
          <p:cNvPr id="262" name="Google Shape;262;g3dde1bbe957_1_26"/>
          <p:cNvPicPr preferRelativeResize="0"/>
          <p:nvPr/>
        </p:nvPicPr>
        <p:blipFill>
          <a:blip r:embed="rId5">
            <a:alphaModFix/>
          </a:blip>
          <a:stretch>
            <a:fillRect/>
          </a:stretch>
        </p:blipFill>
        <p:spPr>
          <a:xfrm>
            <a:off x="1788750" y="3888623"/>
            <a:ext cx="4558720" cy="2475527"/>
          </a:xfrm>
          <a:prstGeom prst="rect">
            <a:avLst/>
          </a:prstGeom>
          <a:noFill/>
          <a:ln>
            <a:noFill/>
          </a:ln>
        </p:spPr>
      </p:pic>
      <p:pic>
        <p:nvPicPr>
          <p:cNvPr id="263" name="Google Shape;263;g3dde1bbe957_1_26"/>
          <p:cNvPicPr preferRelativeResize="0"/>
          <p:nvPr/>
        </p:nvPicPr>
        <p:blipFill>
          <a:blip r:embed="rId6">
            <a:alphaModFix/>
          </a:blip>
          <a:stretch>
            <a:fillRect/>
          </a:stretch>
        </p:blipFill>
        <p:spPr>
          <a:xfrm>
            <a:off x="6543825" y="3888625"/>
            <a:ext cx="4595424" cy="2475525"/>
          </a:xfrm>
          <a:prstGeom prst="rect">
            <a:avLst/>
          </a:prstGeom>
          <a:noFill/>
          <a:ln>
            <a:noFill/>
          </a:ln>
        </p:spPr>
      </p:pic>
      <p:sp>
        <p:nvSpPr>
          <p:cNvPr id="264" name="Google Shape;264;g3dde1bbe957_1_26"/>
          <p:cNvSpPr txBox="1"/>
          <p:nvPr/>
        </p:nvSpPr>
        <p:spPr>
          <a:xfrm>
            <a:off x="251600" y="1581500"/>
            <a:ext cx="1537200" cy="197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watsonx/ibm/granite-3-8b-instruct</a:t>
            </a:r>
            <a:endParaRPr/>
          </a:p>
          <a:p>
            <a:pPr indent="0" lvl="0" marL="0" rtl="0" algn="l">
              <a:spcBef>
                <a:spcPts val="0"/>
              </a:spcBef>
              <a:spcAft>
                <a:spcPts val="0"/>
              </a:spcAft>
              <a:buNone/>
            </a:pPr>
            <a:r>
              <a:t/>
            </a:r>
            <a:endParaRPr/>
          </a:p>
          <a:p>
            <a:pPr indent="0" lvl="0" marL="0" marR="0" rtl="0" algn="l">
              <a:lnSpc>
                <a:spcPct val="100000"/>
              </a:lnSpc>
              <a:spcBef>
                <a:spcPts val="0"/>
              </a:spcBef>
              <a:spcAft>
                <a:spcPts val="0"/>
              </a:spcAft>
              <a:buNone/>
            </a:pPr>
            <a:r>
              <a:rPr lang="en-US"/>
              <a:t>60% Accuracy</a:t>
            </a:r>
            <a:endParaRPr/>
          </a:p>
          <a:p>
            <a:pPr indent="0" lvl="0" marL="0" marR="0" rtl="0" algn="l">
              <a:lnSpc>
                <a:spcPct val="100000"/>
              </a:lnSpc>
              <a:spcBef>
                <a:spcPts val="0"/>
              </a:spcBef>
              <a:spcAft>
                <a:spcPts val="0"/>
              </a:spcAft>
              <a:buNone/>
            </a:pPr>
            <a:r>
              <a:t/>
            </a:r>
            <a:endParaRPr/>
          </a:p>
          <a:p>
            <a:pPr indent="0" lvl="0" marL="0" marR="0" rtl="0" algn="l">
              <a:lnSpc>
                <a:spcPct val="100000"/>
              </a:lnSpc>
              <a:spcBef>
                <a:spcPts val="0"/>
              </a:spcBef>
              <a:spcAft>
                <a:spcPts val="0"/>
              </a:spcAft>
              <a:buNone/>
            </a:pPr>
            <a:r>
              <a:rPr lang="en-US"/>
              <a:t>91,362 mean e2e (ms)</a:t>
            </a:r>
            <a:endParaRPr/>
          </a:p>
          <a:p>
            <a:pPr indent="0" lvl="0" marL="0" marR="0" rtl="0" algn="l">
              <a:lnSpc>
                <a:spcPct val="100000"/>
              </a:lnSpc>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t/>
            </a:r>
            <a:endParaRPr/>
          </a:p>
        </p:txBody>
      </p:sp>
      <p:sp>
        <p:nvSpPr>
          <p:cNvPr id="265" name="Google Shape;265;g3dde1bbe957_1_26"/>
          <p:cNvSpPr txBox="1"/>
          <p:nvPr/>
        </p:nvSpPr>
        <p:spPr>
          <a:xfrm>
            <a:off x="251600" y="4140151"/>
            <a:ext cx="1537200" cy="204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US"/>
              <a:t>watsonx/meta-llama/</a:t>
            </a:r>
            <a:r>
              <a:rPr lang="en-US"/>
              <a:t>llama-4-maverick-17b-128e-instruct-fp8</a:t>
            </a:r>
            <a:endParaRPr/>
          </a:p>
          <a:p>
            <a:pPr indent="0" lvl="0" marL="0" marR="0" rtl="0" algn="l">
              <a:lnSpc>
                <a:spcPct val="100000"/>
              </a:lnSpc>
              <a:spcBef>
                <a:spcPts val="0"/>
              </a:spcBef>
              <a:spcAft>
                <a:spcPts val="0"/>
              </a:spcAft>
              <a:buNone/>
            </a:pPr>
            <a:r>
              <a:t/>
            </a:r>
            <a:endParaRPr/>
          </a:p>
          <a:p>
            <a:pPr indent="0" lvl="0" marL="0" marR="0" rtl="0" algn="l">
              <a:lnSpc>
                <a:spcPct val="100000"/>
              </a:lnSpc>
              <a:spcBef>
                <a:spcPts val="0"/>
              </a:spcBef>
              <a:spcAft>
                <a:spcPts val="0"/>
              </a:spcAft>
              <a:buNone/>
            </a:pPr>
            <a:r>
              <a:rPr lang="en-US"/>
              <a:t>90% Accuracy</a:t>
            </a:r>
            <a:endParaRPr/>
          </a:p>
          <a:p>
            <a:pPr indent="0" lvl="0" marL="0" marR="0" rtl="0" algn="l">
              <a:lnSpc>
                <a:spcPct val="100000"/>
              </a:lnSpc>
              <a:spcBef>
                <a:spcPts val="0"/>
              </a:spcBef>
              <a:spcAft>
                <a:spcPts val="0"/>
              </a:spcAft>
              <a:buNone/>
            </a:pPr>
            <a:r>
              <a:t/>
            </a:r>
            <a:endParaRPr/>
          </a:p>
          <a:p>
            <a:pPr indent="0" lvl="0" marL="0" marR="0" rtl="0" algn="l">
              <a:lnSpc>
                <a:spcPct val="100000"/>
              </a:lnSpc>
              <a:spcBef>
                <a:spcPts val="0"/>
              </a:spcBef>
              <a:spcAft>
                <a:spcPts val="0"/>
              </a:spcAft>
              <a:buNone/>
            </a:pPr>
            <a:r>
              <a:rPr lang="en-US"/>
              <a:t>146,191 mean e2e (ms)</a:t>
            </a:r>
            <a:endParaRPr/>
          </a:p>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2026-05-03T03:17:50Z</dcterms:created>
  <dc:creator>Dr. Kaoutar El Maghraoui</dc:creator>
</cp:coreProperties>
</file>